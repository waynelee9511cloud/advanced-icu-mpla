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48" r:id="rId1"/>
    <p:sldMasterId id="2147483660" r:id="rId2"/>
  </p:sldMasterIdLst>
  <p:notesMasterIdLst>
    <p:notesMasterId r:id="rId20"/>
  </p:notesMasterIdLst>
  <p:handoutMasterIdLst>
    <p:handoutMasterId r:id="rId21"/>
  </p:handoutMasterIdLst>
  <p:sldIdLst>
    <p:sldId id="815" r:id="rId3"/>
    <p:sldId id="582" r:id="rId4"/>
    <p:sldId id="816" r:id="rId5"/>
    <p:sldId id="801" r:id="rId6"/>
    <p:sldId id="817" r:id="rId7"/>
    <p:sldId id="818" r:id="rId8"/>
    <p:sldId id="802" r:id="rId9"/>
    <p:sldId id="819" r:id="rId10"/>
    <p:sldId id="820" r:id="rId11"/>
    <p:sldId id="803" r:id="rId12"/>
    <p:sldId id="799" r:id="rId13"/>
    <p:sldId id="821" r:id="rId14"/>
    <p:sldId id="822" r:id="rId15"/>
    <p:sldId id="804" r:id="rId16"/>
    <p:sldId id="823" r:id="rId17"/>
    <p:sldId id="805" r:id="rId18"/>
    <p:sldId id="824" r:id="rId19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2B4D0E-C5E0-5E64-A773-0F0192B6B8B8}" name="Wayne Lee" initials="WL" userId="549b2abbf9d8194b" providerId="Windows Live"/>
  <p188:author id="{5D45A839-1714-8325-1F0B-B02C75CDED08}" name="Wayne" initials="W" userId="Wayne" providerId="None"/>
  <p188:author id="{3845707B-F4B0-69DD-E142-B9DE6471AD29}" name="Blake Chin" initials="BC" userId="f21d4e491758973f" providerId="Windows Live"/>
  <p188:author id="{C04D8D8F-6558-6726-7207-06763CD05795}" name="Judy Luo" initials="JL" userId="c4be65be88a786ea" providerId="Windows Live"/>
  <p188:author id="{845732C6-21AB-B4F9-A332-FA4FEB1D2563}" name="iris yang" initials="iy" userId="74786658df68b10a" providerId="Windows Live"/>
  <p188:author id="{996D8FD4-89D8-F84A-0E68-CAF96812F7D2}" name="Cathy Hsu" initials="CH" userId="b6e74ed187bb5876" providerId="Windows Live"/>
  <p188:author id="{A32D04F1-3BC3-186A-05B4-648C36F5A62E}" name="Shelly Liao" initials="SL" userId="8dc155537c9b76c2" providerId="Windows Live"/>
  <p188:author id="{D72A1FF1-6322-4172-4D36-FEBC97051D26}" name="Tony Liu" initials="TL" userId="470b06e07b62a9c0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milla" initials="CC" lastIdx="3" clrIdx="0">
    <p:extLst>
      <p:ext uri="{19B8F6BF-5375-455C-9EA6-DF929625EA0E}">
        <p15:presenceInfo xmlns:p15="http://schemas.microsoft.com/office/powerpoint/2012/main" userId="Camil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2705"/>
    <a:srgbClr val="0F943E"/>
    <a:srgbClr val="5FEF92"/>
    <a:srgbClr val="CC0000"/>
    <a:srgbClr val="14C654"/>
    <a:srgbClr val="FF0066"/>
    <a:srgbClr val="3E7DD7"/>
    <a:srgbClr val="2AA6D5"/>
    <a:srgbClr val="EDFFF3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88" autoAdjust="0"/>
    <p:restoredTop sz="81021" autoAdjust="0"/>
  </p:normalViewPr>
  <p:slideViewPr>
    <p:cSldViewPr>
      <p:cViewPr varScale="1">
        <p:scale>
          <a:sx n="63" d="100"/>
          <a:sy n="63" d="100"/>
        </p:scale>
        <p:origin x="54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36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546"/>
    </p:cViewPr>
  </p:sorterViewPr>
  <p:notesViewPr>
    <p:cSldViewPr>
      <p:cViewPr varScale="1">
        <p:scale>
          <a:sx n="53" d="100"/>
          <a:sy n="53" d="100"/>
        </p:scale>
        <p:origin x="26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483FE-B35A-42AA-A120-00A9953BB36E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8F7D8-0D2A-4B86-9A18-F33E19CB6B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29285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A4702F-36A4-4D06-A4BA-44ADCB6820EE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DE539-789E-446C-B031-E842A26D9D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7059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8DE539-789E-446C-B031-E842A26D9DEB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8851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Let's begin with the first section: how to apply for access and log into the system for the first time.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DE539-789E-446C-B031-E842A26D9DEB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5989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When setting up your password, it must be at least 8 characters long and include a mix of alphabets</a:t>
            </a:r>
            <a:r>
              <a:rPr lang="zh-TW" altLang="en-US" dirty="0"/>
              <a:t> </a:t>
            </a:r>
            <a:r>
              <a:rPr lang="en-US" altLang="zh-TW" dirty="0"/>
              <a:t>&lt;</a:t>
            </a:r>
            <a:r>
              <a:rPr lang="zh-TW" altLang="en-US" dirty="0"/>
              <a:t>ㄟ否北</a:t>
            </a:r>
            <a:r>
              <a:rPr lang="en-US" altLang="zh-TW" dirty="0"/>
              <a:t>&gt; and letters. For security purposes, your password will expire and must be updated every 90 days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DE539-789E-446C-B031-E842A26D9DEB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2884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2603375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4800">
                <a:effectLst/>
                <a:latin typeface="Cambria" panose="02040503050406030204" pitchFamily="18" charset="0"/>
                <a:ea typeface="標楷體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880247"/>
            <a:ext cx="6400800" cy="1219200"/>
          </a:xfrm>
        </p:spPr>
        <p:txBody>
          <a:bodyPr>
            <a:noAutofit/>
          </a:bodyPr>
          <a:lstStyle>
            <a:lvl1pPr marL="0" indent="0" algn="ctr">
              <a:buNone/>
              <a:defRPr lang="en-US" sz="3200" kern="1200" dirty="0">
                <a:solidFill>
                  <a:schemeClr val="tx2"/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7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/>
                <a:latin typeface="Cambria" panose="020405030504060302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標楷體" panose="03000509000000000000" pitchFamily="65" charset="-12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>
                <a:latin typeface="Cambria" panose="02040503050406030204" pitchFamily="18" charset="0"/>
              </a:defRPr>
            </a:lvl1pPr>
            <a:lvl2pPr>
              <a:defRPr sz="1600">
                <a:latin typeface="Cambria" panose="02040503050406030204" pitchFamily="18" charset="0"/>
              </a:defRPr>
            </a:lvl2pPr>
            <a:lvl3pPr>
              <a:defRPr sz="1600">
                <a:latin typeface="Cambria" panose="02040503050406030204" pitchFamily="18" charset="0"/>
              </a:defRPr>
            </a:lvl3pPr>
            <a:lvl4pPr>
              <a:defRPr sz="1600">
                <a:latin typeface="Cambria" panose="02040503050406030204" pitchFamily="18" charset="0"/>
              </a:defRPr>
            </a:lvl4pPr>
            <a:lvl5pPr>
              <a:defRPr sz="1600">
                <a:latin typeface="Cambria" panose="020405030504060302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latin typeface="Cambria" panose="020405030504060302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latin typeface="Cambria" panose="020405030504060302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>
                <a:latin typeface="Cambria" panose="02040503050406030204" pitchFamily="18" charset="0"/>
              </a:defRPr>
            </a:lvl1pPr>
            <a:lvl2pPr>
              <a:defRPr sz="2800">
                <a:latin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</a:defRPr>
            </a:lvl3pPr>
            <a:lvl4pPr>
              <a:defRPr sz="2000">
                <a:latin typeface="Cambria" panose="02040503050406030204" pitchFamily="18" charset="0"/>
              </a:defRPr>
            </a:lvl4pPr>
            <a:lvl5pPr>
              <a:defRPr sz="2000">
                <a:latin typeface="Cambria" panose="020405030504060302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>
                <a:latin typeface="Cambria" panose="020405030504060302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latin typeface="Cambria" panose="020405030504060302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2603375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4800">
                <a:effectLst/>
                <a:latin typeface="Cambria" panose="02040503050406030204" pitchFamily="18" charset="0"/>
                <a:ea typeface="標楷體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880247"/>
            <a:ext cx="6400800" cy="1219200"/>
          </a:xfrm>
        </p:spPr>
        <p:txBody>
          <a:bodyPr>
            <a:noAutofit/>
          </a:bodyPr>
          <a:lstStyle>
            <a:lvl1pPr marL="0" indent="0" algn="ctr">
              <a:buNone/>
              <a:defRPr lang="en-US" sz="3200" kern="1200" dirty="0">
                <a:solidFill>
                  <a:schemeClr val="tx2"/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7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/>
                <a:latin typeface="Cambria" panose="020405030504060302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標楷體" panose="03000509000000000000" pitchFamily="65" charset="-12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>
                <a:latin typeface="Cambria" panose="02040503050406030204" pitchFamily="18" charset="0"/>
              </a:defRPr>
            </a:lvl1pPr>
            <a:lvl2pPr>
              <a:defRPr sz="1600">
                <a:latin typeface="Cambria" panose="02040503050406030204" pitchFamily="18" charset="0"/>
              </a:defRPr>
            </a:lvl2pPr>
            <a:lvl3pPr>
              <a:defRPr sz="1600">
                <a:latin typeface="Cambria" panose="02040503050406030204" pitchFamily="18" charset="0"/>
              </a:defRPr>
            </a:lvl3pPr>
            <a:lvl4pPr>
              <a:defRPr sz="1600">
                <a:latin typeface="Cambria" panose="02040503050406030204" pitchFamily="18" charset="0"/>
              </a:defRPr>
            </a:lvl4pPr>
            <a:lvl5pPr>
              <a:defRPr sz="1600">
                <a:latin typeface="Cambria" panose="020405030504060302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latin typeface="Cambria" panose="020405030504060302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latin typeface="Cambria" panose="020405030504060302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>
                <a:latin typeface="Cambria" panose="02040503050406030204" pitchFamily="18" charset="0"/>
              </a:defRPr>
            </a:lvl1pPr>
            <a:lvl2pPr>
              <a:defRPr sz="2800">
                <a:latin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</a:defRPr>
            </a:lvl3pPr>
            <a:lvl4pPr>
              <a:defRPr sz="2000">
                <a:latin typeface="Cambria" panose="02040503050406030204" pitchFamily="18" charset="0"/>
              </a:defRPr>
            </a:lvl4pPr>
            <a:lvl5pPr>
              <a:defRPr sz="2000">
                <a:latin typeface="Cambria" panose="020405030504060302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>
                <a:latin typeface="Cambria" panose="020405030504060302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latin typeface="Cambria" panose="020405030504060302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43000">
              <a:schemeClr val="bg1">
                <a:lumMod val="95000"/>
              </a:schemeClr>
            </a:gs>
            <a:gs pos="83000">
              <a:schemeClr val="bg1">
                <a:lumMod val="95000"/>
              </a:schemeClr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50254"/>
            <a:ext cx="8229600" cy="8367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4426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55" y="6036533"/>
            <a:ext cx="1080518" cy="900686"/>
          </a:xfrm>
          <a:prstGeom prst="rect">
            <a:avLst/>
          </a:prstGeom>
        </p:spPr>
      </p:pic>
      <p:graphicFrame>
        <p:nvGraphicFramePr>
          <p:cNvPr id="9" name="表格 8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527348107"/>
              </p:ext>
            </p:extLst>
          </p:nvPr>
        </p:nvGraphicFramePr>
        <p:xfrm>
          <a:off x="1249125" y="6657443"/>
          <a:ext cx="7190595" cy="76200"/>
        </p:xfrm>
        <a:graphic>
          <a:graphicData uri="http://schemas.openxmlformats.org/drawingml/2006/table">
            <a:tbl>
              <a:tblPr firstRow="1" firstCol="1" bandRow="1"/>
              <a:tblGrid>
                <a:gridCol w="215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3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500" kern="100" cap="all" dirty="0">
                          <a:effectLst/>
                          <a:latin typeface="Cambria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R="304800" latinLnBrk="1">
                        <a:spcAft>
                          <a:spcPts val="0"/>
                        </a:spcAft>
                        <a:tabLst>
                          <a:tab pos="2637155" algn="ctr"/>
                          <a:tab pos="2689860" algn="l"/>
                          <a:tab pos="5274310" algn="r"/>
                        </a:tabLst>
                      </a:pPr>
                      <a:endParaRPr lang="en-US" sz="500" kern="100" cap="all" dirty="0">
                        <a:solidFill>
                          <a:srgbClr val="FFFFFF"/>
                        </a:solidFill>
                        <a:effectLst/>
                        <a:latin typeface="Cambria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橢圓 3"/>
          <p:cNvSpPr/>
          <p:nvPr userDrawn="1"/>
        </p:nvSpPr>
        <p:spPr>
          <a:xfrm>
            <a:off x="8547148" y="6635452"/>
            <a:ext cx="72008" cy="7200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 userDrawn="1"/>
        </p:nvSpPr>
        <p:spPr>
          <a:xfrm>
            <a:off x="7542617" y="6425417"/>
            <a:ext cx="1440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Confidential</a:t>
            </a:r>
            <a:endParaRPr lang="zh-TW" altLang="en-US" sz="1200" dirty="0">
              <a:solidFill>
                <a:schemeClr val="bg1">
                  <a:lumMod val="75000"/>
                </a:schemeClr>
              </a:solidFill>
              <a:latin typeface="Cambria" panose="020405030504060302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3200" b="1" kern="1200">
          <a:solidFill>
            <a:schemeClr val="accent4">
              <a:lumMod val="50000"/>
            </a:schemeClr>
          </a:solidFill>
          <a:effectLst/>
          <a:latin typeface="Cambria" panose="02040503050406030204" pitchFamily="18" charset="0"/>
          <a:ea typeface="標楷體" pitchFamily="65" charset="-12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2"/>
        </a:buClr>
        <a:buFont typeface="Wingdings" panose="05000000000000000000" pitchFamily="2" charset="2"/>
        <a:buChar char="n"/>
        <a:defRPr lang="zh-TW" altLang="en-US" sz="2400" kern="1200" dirty="0" smtClean="0">
          <a:solidFill>
            <a:schemeClr val="tx2">
              <a:lumMod val="75000"/>
            </a:schemeClr>
          </a:solidFill>
          <a:effectLst/>
          <a:latin typeface="Cambria" panose="02040503050406030204" pitchFamily="18" charset="0"/>
          <a:ea typeface="標楷體" pitchFamily="65" charset="-120"/>
          <a:cs typeface="+mj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2"/>
        </a:buClr>
        <a:buSzPct val="80000"/>
        <a:buFont typeface="Wingdings" panose="05000000000000000000" pitchFamily="2" charset="2"/>
        <a:buChar char="Ø"/>
        <a:defRPr lang="zh-TW" altLang="en-US" sz="2000" kern="1200" dirty="0" smtClean="0">
          <a:solidFill>
            <a:schemeClr val="accent3">
              <a:lumMod val="75000"/>
            </a:schemeClr>
          </a:solidFill>
          <a:effectLst/>
          <a:latin typeface="Cambria" panose="02040503050406030204" pitchFamily="18" charset="0"/>
          <a:ea typeface="標楷體" pitchFamily="65" charset="-120"/>
          <a:cs typeface="+mj-cs"/>
        </a:defRPr>
      </a:lvl2pPr>
      <a:lvl3pPr marL="1257300" indent="-342900" algn="l" defTabSz="914400" rtl="0" eaLnBrk="1" latinLnBrk="0" hangingPunct="1">
        <a:spcBef>
          <a:spcPct val="20000"/>
        </a:spcBef>
        <a:buClr>
          <a:schemeClr val="accent2"/>
        </a:buClr>
        <a:buSzPct val="80000"/>
        <a:buFont typeface="Wingdings" panose="05000000000000000000" pitchFamily="2" charset="2"/>
        <a:buChar char="Ø"/>
        <a:defRPr lang="zh-TW" altLang="en-US" sz="2000" kern="1200" dirty="0" smtClean="0">
          <a:solidFill>
            <a:schemeClr val="accent2">
              <a:lumMod val="75000"/>
            </a:schemeClr>
          </a:solidFill>
          <a:effectLst/>
          <a:latin typeface="Cambria" panose="02040503050406030204" pitchFamily="18" charset="0"/>
          <a:ea typeface="標楷體" pitchFamily="65" charset="-120"/>
          <a:cs typeface="+mj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lang="zh-TW" altLang="en-US" sz="2000" kern="1200" dirty="0" smtClean="0">
          <a:solidFill>
            <a:schemeClr val="accent5">
              <a:lumMod val="75000"/>
            </a:schemeClr>
          </a:solidFill>
          <a:effectLst/>
          <a:latin typeface="Cambria" panose="02040503050406030204" pitchFamily="18" charset="0"/>
          <a:ea typeface="標楷體" pitchFamily="65" charset="-120"/>
          <a:cs typeface="+mj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lang="zh-TW" altLang="en-US" sz="2000" kern="1200" dirty="0" smtClean="0">
          <a:solidFill>
            <a:schemeClr val="bg1">
              <a:lumMod val="50000"/>
            </a:schemeClr>
          </a:solidFill>
          <a:effectLst/>
          <a:latin typeface="Cambria" panose="02040503050406030204" pitchFamily="18" charset="0"/>
          <a:ea typeface="標楷體" pitchFamily="65" charset="-120"/>
          <a:cs typeface="+mj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43000">
              <a:schemeClr val="bg1">
                <a:lumMod val="95000"/>
              </a:schemeClr>
            </a:gs>
            <a:gs pos="83000">
              <a:schemeClr val="bg1">
                <a:lumMod val="95000"/>
              </a:schemeClr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50254"/>
            <a:ext cx="8229600" cy="8367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4426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55" y="6036533"/>
            <a:ext cx="1080518" cy="900686"/>
          </a:xfrm>
          <a:prstGeom prst="rect">
            <a:avLst/>
          </a:prstGeom>
        </p:spPr>
      </p:pic>
      <p:graphicFrame>
        <p:nvGraphicFramePr>
          <p:cNvPr id="9" name="表格 8"/>
          <p:cNvGraphicFramePr>
            <a:graphicFrameLocks noGrp="1"/>
          </p:cNvGraphicFramePr>
          <p:nvPr userDrawn="1"/>
        </p:nvGraphicFramePr>
        <p:xfrm>
          <a:off x="1249125" y="6657443"/>
          <a:ext cx="7190595" cy="76200"/>
        </p:xfrm>
        <a:graphic>
          <a:graphicData uri="http://schemas.openxmlformats.org/drawingml/2006/table">
            <a:tbl>
              <a:tblPr firstRow="1" firstCol="1" bandRow="1"/>
              <a:tblGrid>
                <a:gridCol w="215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3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500" kern="100" cap="all" dirty="0">
                          <a:effectLst/>
                          <a:latin typeface="Cambria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R="304800" latinLnBrk="1">
                        <a:spcAft>
                          <a:spcPts val="0"/>
                        </a:spcAft>
                        <a:tabLst>
                          <a:tab pos="2637155" algn="ctr"/>
                          <a:tab pos="2689860" algn="l"/>
                          <a:tab pos="5274310" algn="r"/>
                        </a:tabLst>
                      </a:pPr>
                      <a:endParaRPr lang="en-US" sz="500" kern="100" cap="all" dirty="0">
                        <a:solidFill>
                          <a:srgbClr val="FFFFFF"/>
                        </a:solidFill>
                        <a:effectLst/>
                        <a:latin typeface="Cambria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投影片編號版面配置區 9"/>
          <p:cNvSpPr>
            <a:spLocks noGrp="1"/>
          </p:cNvSpPr>
          <p:nvPr>
            <p:ph type="sldNum" sz="quarter" idx="4"/>
          </p:nvPr>
        </p:nvSpPr>
        <p:spPr>
          <a:xfrm>
            <a:off x="8439720" y="6492381"/>
            <a:ext cx="524768" cy="311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AB429807-B679-4391-B385-1CBDB8802DC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橢圓 3"/>
          <p:cNvSpPr/>
          <p:nvPr userDrawn="1"/>
        </p:nvSpPr>
        <p:spPr>
          <a:xfrm>
            <a:off x="8547148" y="6635452"/>
            <a:ext cx="72008" cy="7200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 userDrawn="1"/>
        </p:nvSpPr>
        <p:spPr>
          <a:xfrm>
            <a:off x="7542617" y="6425417"/>
            <a:ext cx="1440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Confidential</a:t>
            </a:r>
            <a:endParaRPr lang="zh-TW" altLang="en-US" sz="1200" dirty="0">
              <a:solidFill>
                <a:schemeClr val="bg1">
                  <a:lumMod val="75000"/>
                </a:schemeClr>
              </a:solidFill>
              <a:latin typeface="Cambria" panose="020405030504060302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3200" b="1" kern="1200">
          <a:solidFill>
            <a:schemeClr val="accent4">
              <a:lumMod val="50000"/>
            </a:schemeClr>
          </a:solidFill>
          <a:effectLst/>
          <a:latin typeface="Cambria" panose="02040503050406030204" pitchFamily="18" charset="0"/>
          <a:ea typeface="標楷體" pitchFamily="65" charset="-12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2"/>
        </a:buClr>
        <a:buFont typeface="Wingdings" panose="05000000000000000000" pitchFamily="2" charset="2"/>
        <a:buChar char="n"/>
        <a:defRPr lang="zh-TW" altLang="en-US" sz="2400" kern="1200" dirty="0" smtClean="0">
          <a:solidFill>
            <a:schemeClr val="tx2">
              <a:lumMod val="75000"/>
            </a:schemeClr>
          </a:solidFill>
          <a:effectLst/>
          <a:latin typeface="Cambria" panose="02040503050406030204" pitchFamily="18" charset="0"/>
          <a:ea typeface="標楷體" pitchFamily="65" charset="-120"/>
          <a:cs typeface="+mj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2"/>
        </a:buClr>
        <a:buSzPct val="80000"/>
        <a:buFont typeface="Wingdings" panose="05000000000000000000" pitchFamily="2" charset="2"/>
        <a:buChar char="Ø"/>
        <a:defRPr lang="zh-TW" altLang="en-US" sz="2000" kern="1200" dirty="0" smtClean="0">
          <a:solidFill>
            <a:schemeClr val="accent3">
              <a:lumMod val="75000"/>
            </a:schemeClr>
          </a:solidFill>
          <a:effectLst/>
          <a:latin typeface="Cambria" panose="02040503050406030204" pitchFamily="18" charset="0"/>
          <a:ea typeface="標楷體" pitchFamily="65" charset="-120"/>
          <a:cs typeface="+mj-cs"/>
        </a:defRPr>
      </a:lvl2pPr>
      <a:lvl3pPr marL="1257300" indent="-342900" algn="l" defTabSz="914400" rtl="0" eaLnBrk="1" latinLnBrk="0" hangingPunct="1">
        <a:spcBef>
          <a:spcPct val="20000"/>
        </a:spcBef>
        <a:buClr>
          <a:schemeClr val="accent2"/>
        </a:buClr>
        <a:buSzPct val="80000"/>
        <a:buFont typeface="Wingdings" panose="05000000000000000000" pitchFamily="2" charset="2"/>
        <a:buChar char="Ø"/>
        <a:defRPr lang="zh-TW" altLang="en-US" sz="2000" kern="1200" dirty="0" smtClean="0">
          <a:solidFill>
            <a:schemeClr val="accent2">
              <a:lumMod val="75000"/>
            </a:schemeClr>
          </a:solidFill>
          <a:effectLst/>
          <a:latin typeface="Cambria" panose="02040503050406030204" pitchFamily="18" charset="0"/>
          <a:ea typeface="標楷體" pitchFamily="65" charset="-120"/>
          <a:cs typeface="+mj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lang="zh-TW" altLang="en-US" sz="2000" kern="1200" dirty="0" smtClean="0">
          <a:solidFill>
            <a:schemeClr val="accent5">
              <a:lumMod val="75000"/>
            </a:schemeClr>
          </a:solidFill>
          <a:effectLst/>
          <a:latin typeface="Cambria" panose="02040503050406030204" pitchFamily="18" charset="0"/>
          <a:ea typeface="標楷體" pitchFamily="65" charset="-120"/>
          <a:cs typeface="+mj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lang="zh-TW" altLang="en-US" sz="2000" kern="1200" dirty="0" smtClean="0">
          <a:solidFill>
            <a:schemeClr val="bg1">
              <a:lumMod val="50000"/>
            </a:schemeClr>
          </a:solidFill>
          <a:effectLst/>
          <a:latin typeface="Cambria" panose="02040503050406030204" pitchFamily="18" charset="0"/>
          <a:ea typeface="標楷體" pitchFamily="65" charset="-120"/>
          <a:cs typeface="+mj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5880100"/>
            <a:ext cx="965200" cy="800100"/>
          </a:xfrm>
          <a:prstGeom prst="rect">
            <a:avLst/>
          </a:prstGeom>
        </p:spPr>
      </p:pic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244600" y="6731000"/>
          <a:ext cx="7190595" cy="76200"/>
        </p:xfrm>
        <a:graphic>
          <a:graphicData uri="http://schemas.openxmlformats.org/drawingml/2006/table">
            <a:tbl>
              <a:tblPr firstRow="1" firstCol="1" bandRow="1"/>
              <a:tblGrid>
                <a:gridCol w="215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3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500" kern="100" cap="all" dirty="0">
                          <a:effectLst/>
                          <a:latin typeface="Cambria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R="304800" latinLnBrk="1">
                        <a:spcAft>
                          <a:spcPts val="0"/>
                        </a:spcAft>
                        <a:tabLst>
                          <a:tab pos="2637155" algn="ctr"/>
                          <a:tab pos="2689860" algn="l"/>
                          <a:tab pos="5274310" algn="r"/>
                        </a:tabLst>
                      </a:pPr>
                      <a:endParaRPr lang="en-US" sz="500" kern="100" cap="all" dirty="0">
                        <a:solidFill>
                          <a:srgbClr val="FFFFFF"/>
                        </a:solidFill>
                        <a:effectLst/>
                        <a:latin typeface="Cambria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標題 3"/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7620000" cy="1524000"/>
          </a:xfrm>
        </p:spPr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 sz="280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ICU Patient Mortality Predictor &amp; Physiological Analyzer (ICU-MPLA)</a:t>
            </a:r>
            <a:endParaRPr lang="zh-TW" altLang="en-US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副標題 1">
            <a:extLst>
              <a:ext uri="{FF2B5EF4-FFF2-40B4-BE49-F238E27FC236}">
                <a16:creationId xmlns:a16="http://schemas.microsoft.com/office/drawing/2014/main" id="{DC6ABF15-7FF3-4F38-A74D-FEE76EA29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327400"/>
            <a:ext cx="7620000" cy="1016000"/>
          </a:xfrm>
        </p:spPr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 sz="1800" b="1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ICU Mortality Prediction &amp; Physiological Time-Series Analysis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ea typeface="Cambria" panose="02040503050406030204" pitchFamily="18" charset="0"/>
            </a:endParaRPr>
          </a:p>
        </p:txBody>
      </p:sp>
      <p:sp>
        <p:nvSpPr>
          <p:cNvPr id="6" name="標題 3">
            <a:extLst>
              <a:ext uri="{FF2B5EF4-FFF2-40B4-BE49-F238E27FC236}">
                <a16:creationId xmlns:a16="http://schemas.microsoft.com/office/drawing/2014/main" id="{60D84796-6CAA-4543-A519-9C88ED15831B}"/>
              </a:ext>
            </a:extLst>
          </p:cNvPr>
          <p:cNvSpPr txBox="1">
            <a:spLocks/>
          </p:cNvSpPr>
          <p:nvPr/>
        </p:nvSpPr>
        <p:spPr>
          <a:xfrm>
            <a:off x="976703" y="-61352"/>
            <a:ext cx="7190595" cy="30228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1" kern="1200">
                <a:solidFill>
                  <a:schemeClr val="accent4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</a:lstStyle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 sz="1600" b="0" i="0" u="none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Course: Advanced Python Programming | Wayne Lee</a:t>
            </a:r>
            <a:endParaRPr lang="zh-TW" altLang="en-US" sz="2400" b="0" i="0" u="none" strike="noStrike" baseline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051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7AD1717-D0CF-4370-BECF-6A6B709A4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2</a:t>
            </a:fld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03B1D2F-3D46-5E6A-1BDA-24ACB3C9CC6A}"/>
              </a:ext>
            </a:extLst>
          </p:cNvPr>
          <p:cNvSpPr txBox="1">
            <a:spLocks/>
          </p:cNvSpPr>
          <p:nvPr/>
        </p:nvSpPr>
        <p:spPr>
          <a:xfrm>
            <a:off x="1003300" y="2349500"/>
            <a:ext cx="7124700" cy="17145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>
                <a:latin typeface="Cambria"/>
                <a:ea typeface="微軟正黑體"/>
                <a:cs typeface="Cambria"/>
              </a:defRPr>
            </a:pPr>
            <a:r>
              <a:rPr sz="3600" b="1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1. Introduction &amp; Background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C5AAC42-94B2-4FAF-8FE8-11561384F25D}"/>
              </a:ext>
            </a:extLst>
          </p:cNvPr>
          <p:cNvSpPr txBox="1"/>
          <p:nvPr/>
        </p:nvSpPr>
        <p:spPr>
          <a:xfrm>
            <a:off x="1003300" y="4191000"/>
            <a:ext cx="71247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i="1">
                <a:solidFill>
                  <a:srgbClr val="2F5897"/>
                </a:solidFill>
              </a:rPr>
              <a:t>Research motivation, dataset overview, and project objectives</a:t>
            </a:r>
            <a:endParaRPr lang="zh-TW" altLang="en-US" i="1">
              <a:solidFill>
                <a:srgbClr val="2F589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104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Clinical Background &amp; Challenges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7948752" cy="4114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ICU mortality risk prediction is vital for clinical decision support, resource allocation, and patient stratification in clinical trials</a:t>
            </a:r>
          </a:p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Traditional acuity scoring systems (e.g., APACHE II, SAPS-II) are static, rule-based, and fail to capture complex temporal dynamics</a:t>
            </a:r>
          </a:p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Irregularly sampled physiological time-series data presents unique challenges:</a:t>
            </a:r>
          </a:p>
          <a:p>
            <a:pPr marL="1023938" lvl="1" indent="-623888" algn="l">
              <a:spcBef>
                <a:spcPts val="1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5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High dimensionality and varying sampling frequencies (vital signs vs. lab values)</a:t>
            </a:r>
          </a:p>
          <a:p>
            <a:pPr marL="1023938" lvl="1" indent="-623888" algn="l">
              <a:spcBef>
                <a:spcPts val="1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5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Significant proportion of missing values as lab tests are ordered only when clinically indicated</a:t>
            </a:r>
          </a:p>
          <a:p>
            <a:pPr marL="1023938" lvl="1" indent="-623888" algn="l">
              <a:spcBef>
                <a:spcPts val="1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5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Severe outcome class imbalance (mortality rate ~14%)</a:t>
            </a:r>
          </a:p>
        </p:txBody>
      </p:sp>
    </p:spTree>
    <p:extLst>
      <p:ext uri="{BB962C8B-B14F-4D97-AF65-F5344CB8AC3E}">
        <p14:creationId xmlns:p14="http://schemas.microsoft.com/office/powerpoint/2010/main" val="3580924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7AD1717-D0CF-4370-BECF-6A6B709A4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4</a:t>
            </a:fld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03B1D2F-3D46-5E6A-1BDA-24ACB3C9CC6A}"/>
              </a:ext>
            </a:extLst>
          </p:cNvPr>
          <p:cNvSpPr txBox="1">
            <a:spLocks/>
          </p:cNvSpPr>
          <p:nvPr/>
        </p:nvSpPr>
        <p:spPr>
          <a:xfrm>
            <a:off x="1003300" y="2349500"/>
            <a:ext cx="7124700" cy="17145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>
                <a:latin typeface="Cambria"/>
                <a:ea typeface="微軟正黑體"/>
                <a:cs typeface="Cambria"/>
              </a:defRPr>
            </a:pPr>
            <a:r>
              <a:rPr sz="3600" b="1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2. Software Architecture &amp; Concurrency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176FE83-7630-4942-90FC-438D8E9DC113}"/>
              </a:ext>
            </a:extLst>
          </p:cNvPr>
          <p:cNvSpPr txBox="1"/>
          <p:nvPr/>
        </p:nvSpPr>
        <p:spPr>
          <a:xfrm>
            <a:off x="1003300" y="4191000"/>
            <a:ext cx="71247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i="1">
                <a:solidFill>
                  <a:srgbClr val="2F5897"/>
                </a:solidFill>
              </a:rPr>
              <a:t>OOP design, multi-processing pipeline, and code structure</a:t>
            </a:r>
            <a:endParaRPr lang="zh-TW" altLang="en-US" i="1">
              <a:solidFill>
                <a:srgbClr val="2F5897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Object-Oriented Software Design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5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7948752" cy="4114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The codebase is refactored from flat procedural scripts to an Object-Oriented design:</a:t>
            </a:r>
          </a:p>
          <a:p>
            <a:pPr marL="1023938" lvl="1" indent="-623888" algn="l">
              <a:spcBef>
                <a:spcPts val="15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5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PatientRecord</a:t>
            </a:r>
            <a:r>
              <a:rPr lang="en-US" sz="15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 Class: Encapsulates clinical demographics and physiological time-series variables; handles file parsing and warnings cleanly</a:t>
            </a:r>
          </a:p>
          <a:p>
            <a:pPr marL="1023938" lvl="1" indent="-623888" algn="l">
              <a:spcBef>
                <a:spcPts val="15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5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FeatureExtractor</a:t>
            </a:r>
            <a:r>
              <a:rPr lang="en-US" sz="15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 Class: Computes statistical aggregates and handles parallel dataset building</a:t>
            </a:r>
          </a:p>
          <a:p>
            <a:pPr marL="1023938" lvl="1" indent="-623888" algn="l">
              <a:spcBef>
                <a:spcPts val="15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5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ICUPredictor</a:t>
            </a:r>
            <a:r>
              <a:rPr lang="en-US" sz="15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 Class: Manages classifier models, cross-validation, threshold optimization, and serialized joblib exports</a:t>
            </a:r>
          </a:p>
          <a:p>
            <a:pPr marL="514350" indent="-457200" algn="l">
              <a:spcBef>
                <a:spcPts val="25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Decorators &amp; Logging: </a:t>
            </a: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A custom @timer decorator profiles execution runtimes; the python logging library handles diagnostic outputs</a:t>
            </a:r>
          </a:p>
        </p:txBody>
      </p:sp>
    </p:spTree>
    <p:extLst>
      <p:ext uri="{BB962C8B-B14F-4D97-AF65-F5344CB8AC3E}">
        <p14:creationId xmlns:p14="http://schemas.microsoft.com/office/powerpoint/2010/main" val="1987304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Multiprocessing Performance Benchmark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6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7948752" cy="4114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Parsing thousands of independent patient records sequentially creates significant CPU and I/O bottlenecks in Python</a:t>
            </a:r>
          </a:p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Multiprocessing implemented via concurrent.futures.ProcessPoolExecutor to run calculations in parallel on multiple cores</a:t>
            </a:r>
          </a:p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Runtime Benchmarks (8,000 patient records):</a:t>
            </a:r>
          </a:p>
          <a:p>
            <a:pPr marL="1023938" lvl="1" indent="-623888" algn="l">
              <a:spcBef>
                <a:spcPts val="12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5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Sequential Feature Extraction (1 Worker): </a:t>
            </a:r>
            <a:r>
              <a:rPr lang="en-US" sz="15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168.83 seconds</a:t>
            </a:r>
          </a:p>
          <a:p>
            <a:pPr marL="1023938" lvl="1" indent="-623888" algn="l">
              <a:spcBef>
                <a:spcPts val="12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5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Parallel Feature Extraction (4 Workers): </a:t>
            </a:r>
            <a:r>
              <a:rPr lang="en-US" sz="15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21.16 seconds</a:t>
            </a:r>
          </a:p>
          <a:p>
            <a:pPr marL="1023938" lvl="1" indent="-623888" algn="l">
              <a:spcBef>
                <a:spcPts val="12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5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Performance Gain: </a:t>
            </a:r>
            <a:r>
              <a:rPr lang="en-US" sz="15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7.98× Speedup</a:t>
            </a:r>
            <a:r>
              <a:rPr lang="en-US" sz="15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 (near-linear multi-core efficiency)</a:t>
            </a:r>
          </a:p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Features an argparse CLI in train.py with a --workers argument for thread scaling</a:t>
            </a:r>
          </a:p>
        </p:txBody>
      </p:sp>
    </p:spTree>
    <p:extLst>
      <p:ext uri="{BB962C8B-B14F-4D97-AF65-F5344CB8AC3E}">
        <p14:creationId xmlns:p14="http://schemas.microsoft.com/office/powerpoint/2010/main" val="3746600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7AD1717-D0CF-4370-BECF-6A6B709A4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7</a:t>
            </a:fld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03B1D2F-3D46-5E6A-1BDA-24ACB3C9CC6A}"/>
              </a:ext>
            </a:extLst>
          </p:cNvPr>
          <p:cNvSpPr txBox="1">
            <a:spLocks/>
          </p:cNvSpPr>
          <p:nvPr/>
        </p:nvSpPr>
        <p:spPr>
          <a:xfrm>
            <a:off x="1003300" y="2349500"/>
            <a:ext cx="7124700" cy="17145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>
                <a:latin typeface="Cambria"/>
                <a:ea typeface="微軟正黑體"/>
                <a:cs typeface="Cambria"/>
              </a:defRPr>
            </a:pPr>
            <a:r>
              <a:rPr sz="3600" b="1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3. Dataset &amp; Feature Engineering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C85D820-3824-47D7-BEB1-CA7E1D7F1550}"/>
              </a:ext>
            </a:extLst>
          </p:cNvPr>
          <p:cNvSpPr txBox="1"/>
          <p:nvPr/>
        </p:nvSpPr>
        <p:spPr>
          <a:xfrm>
            <a:off x="1003300" y="4191000"/>
            <a:ext cx="71247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i="1">
                <a:solidFill>
                  <a:srgbClr val="2F5897"/>
                </a:solidFill>
              </a:rPr>
              <a:t>PhysioNet 2012 dataset, feature extraction, and preprocessing</a:t>
            </a:r>
            <a:endParaRPr lang="zh-TW" altLang="en-US" i="1">
              <a:solidFill>
                <a:srgbClr val="2F589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PhysioNet Challenge 2012 Cohort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8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7948752" cy="4114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Study Cohort: </a:t>
            </a: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8,000 adult ICU records split equally into Set A (development) and Set B (independent test)</a:t>
            </a:r>
          </a:p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Baseline Descriptors: </a:t>
            </a: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Age, Gender, Height, Weight, and ICU unit type (CCU, CSRU, MICU, SICU) collected at admission</a:t>
            </a:r>
          </a:p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Physiological Time-Series: </a:t>
            </a: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37 variables monitored over the first 48 hours of ICU stay (e.g., HR, Temp, GCS, Urine, BUN, Creatinine, pH)</a:t>
            </a:r>
          </a:p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Primary Outcome: </a:t>
            </a: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In-hospital death (Set A: 13.85% mortality rate; Set B: 14.20% mortality rate)</a:t>
            </a:r>
          </a:p>
        </p:txBody>
      </p:sp>
    </p:spTree>
    <p:extLst>
      <p:ext uri="{BB962C8B-B14F-4D97-AF65-F5344CB8AC3E}">
        <p14:creationId xmlns:p14="http://schemas.microsoft.com/office/powerpoint/2010/main" val="912098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Longitudinal Feature Engineering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9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7948752" cy="4114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Irregular sequences are converted to fixed-size representations by extracting 5 statistical aggregates per time-series parameter:</a:t>
            </a:r>
          </a:p>
          <a:p>
            <a:pPr marL="1023938" lvl="1" indent="-623888" algn="l">
              <a:spcBef>
                <a:spcPts val="15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5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Mean: </a:t>
            </a:r>
            <a:r>
              <a:rPr lang="en-US" sz="15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Captures the overall physiological baseline level over 48 hours</a:t>
            </a:r>
          </a:p>
          <a:p>
            <a:pPr marL="1023938" lvl="1" indent="-623888" algn="l">
              <a:spcBef>
                <a:spcPts val="15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5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Minimum (Min): </a:t>
            </a:r>
            <a:r>
              <a:rPr lang="en-US" sz="15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Highlights critical dips (e.g., severe hypotension or hypothermia)</a:t>
            </a:r>
          </a:p>
          <a:p>
            <a:pPr marL="1023938" lvl="1" indent="-623888" algn="l">
              <a:spcBef>
                <a:spcPts val="15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5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Maximum (Max): </a:t>
            </a:r>
            <a:r>
              <a:rPr lang="en-US" sz="15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Highlights critical spikes (e.g., high fever or severe hypertension)</a:t>
            </a:r>
          </a:p>
          <a:p>
            <a:pPr marL="1023938" lvl="1" indent="-623888" algn="l">
              <a:spcBef>
                <a:spcPts val="15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5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Last Value: </a:t>
            </a:r>
            <a:r>
              <a:rPr lang="en-US" sz="15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Represents the patient's state at the end of the 48-hour window</a:t>
            </a:r>
          </a:p>
          <a:p>
            <a:pPr marL="1023938" lvl="1" indent="-623888" algn="l">
              <a:spcBef>
                <a:spcPts val="15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5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Count: </a:t>
            </a:r>
            <a:r>
              <a:rPr lang="en-US" sz="15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Captures observation frequency, acting as a clinical proxy for patient instability</a:t>
            </a:r>
          </a:p>
          <a:p>
            <a:pPr marL="514350" indent="-457200" algn="l">
              <a:spcBef>
                <a:spcPts val="25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Combined with baseline descriptors, this yields a structured matrix of </a:t>
            </a:r>
            <a:r>
              <a:rPr lang="en-US" sz="16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190 features</a:t>
            </a: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 per patient</a:t>
            </a:r>
          </a:p>
        </p:txBody>
      </p:sp>
    </p:spTree>
    <p:extLst>
      <p:ext uri="{BB962C8B-B14F-4D97-AF65-F5344CB8AC3E}">
        <p14:creationId xmlns:p14="http://schemas.microsoft.com/office/powerpoint/2010/main" val="939642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7AD1717-D0CF-4370-BECF-6A6B709A4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10</a:t>
            </a:fld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03B1D2F-3D46-5E6A-1BDA-24ACB3C9CC6A}"/>
              </a:ext>
            </a:extLst>
          </p:cNvPr>
          <p:cNvSpPr txBox="1">
            <a:spLocks/>
          </p:cNvSpPr>
          <p:nvPr/>
        </p:nvSpPr>
        <p:spPr>
          <a:xfrm>
            <a:off x="1003300" y="2349500"/>
            <a:ext cx="7124700" cy="17145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>
                <a:latin typeface="Cambria"/>
                <a:ea typeface="微軟正黑體"/>
                <a:cs typeface="Cambria"/>
              </a:defRPr>
            </a:pPr>
            <a:r>
              <a:rPr sz="3600" b="1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4. Model Development &amp; Evaluation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92181AF-D506-43F6-AC4E-9C4C7DFFA6B4}"/>
              </a:ext>
            </a:extLst>
          </p:cNvPr>
          <p:cNvSpPr txBox="1"/>
          <p:nvPr/>
        </p:nvSpPr>
        <p:spPr>
          <a:xfrm>
            <a:off x="1003300" y="4191000"/>
            <a:ext cx="71247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i="1">
                <a:solidFill>
                  <a:srgbClr val="2F5897"/>
                </a:solidFill>
              </a:rPr>
              <a:t>Classifier comparison, cross-validation, and threshold optimization</a:t>
            </a:r>
            <a:endParaRPr lang="zh-TW" altLang="en-US" i="1">
              <a:solidFill>
                <a:srgbClr val="2F589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Model Comparison (5-Fold Stratified CV)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11</a:t>
            </a:fld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F70C898-555E-4E57-AB7B-0BECCFA69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12789"/>
              </p:ext>
            </p:extLst>
          </p:nvPr>
        </p:nvGraphicFramePr>
        <p:xfrm>
          <a:off x="457200" y="1270000"/>
          <a:ext cx="8229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97959341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94508787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039118207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20893705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88543839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6076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>
                          <a:solidFill>
                            <a:srgbClr val="FFFFFF"/>
                          </a:solidFill>
                        </a:rPr>
                        <a:t>AUROC (Mean ± SD)</a:t>
                      </a:r>
                    </a:p>
                  </a:txBody>
                  <a:tcPr anchor="ctr">
                    <a:solidFill>
                      <a:srgbClr val="6076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>
                          <a:solidFill>
                            <a:srgbClr val="FFFFFF"/>
                          </a:solidFill>
                        </a:rPr>
                        <a:t>PhysioNet Score</a:t>
                      </a:r>
                    </a:p>
                  </a:txBody>
                  <a:tcPr anchor="ctr">
                    <a:solidFill>
                      <a:srgbClr val="6076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>
                          <a:solidFill>
                            <a:srgbClr val="FFFFFF"/>
                          </a:solidFill>
                        </a:rPr>
                        <a:t>Key Technique</a:t>
                      </a:r>
                    </a:p>
                  </a:txBody>
                  <a:tcPr anchor="ctr">
                    <a:solidFill>
                      <a:srgbClr val="6076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6076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65085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 b="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300" b="0"/>
                        <a:t>0.8282 ± 0.0270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300" b="0"/>
                        <a:t>0.3413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 b="0"/>
                        <a:t>Median imputation + class weights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300" b="0"/>
                        <a:t>Baseline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095032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 b="0"/>
                        <a:t>Random Forest</a:t>
                      </a:r>
                    </a:p>
                  </a:txBody>
                  <a:tcPr anchor="ctr">
                    <a:solidFill>
                      <a:srgbClr val="E4E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300" b="0"/>
                        <a:t>0.8358 ± 0.0157</a:t>
                      </a:r>
                    </a:p>
                  </a:txBody>
                  <a:tcPr anchor="ctr">
                    <a:solidFill>
                      <a:srgbClr val="E4E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300" b="0"/>
                        <a:t>0.0487</a:t>
                      </a:r>
                    </a:p>
                  </a:txBody>
                  <a:tcPr anchor="ctr">
                    <a:solidFill>
                      <a:srgbClr val="E4E9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 b="0"/>
                        <a:t>200 trees, unoptimized threshold</a:t>
                      </a:r>
                    </a:p>
                  </a:txBody>
                  <a:tcPr anchor="ctr">
                    <a:solidFill>
                      <a:srgbClr val="E4E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300" b="0"/>
                        <a:t>Baseline</a:t>
                      </a:r>
                    </a:p>
                  </a:txBody>
                  <a:tcPr anchor="ctr">
                    <a:solidFill>
                      <a:srgbClr val="E4E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3582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 b="1"/>
                        <a:t>XGBoost</a:t>
                      </a:r>
                    </a:p>
                  </a:txBody>
                  <a:tcPr anchor="ctr"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300" b="0"/>
                        <a:t>0.8475 ± 0.0137</a:t>
                      </a:r>
                    </a:p>
                  </a:txBody>
                  <a:tcPr anchor="ctr"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300" b="0"/>
                        <a:t>0.4666</a:t>
                      </a:r>
                    </a:p>
                  </a:txBody>
                  <a:tcPr anchor="ctr"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 b="0"/>
                        <a:t>Native NaN handling, threshold grid search (0.66)</a:t>
                      </a:r>
                    </a:p>
                  </a:txBody>
                  <a:tcPr anchor="ctr"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300" b="1">
                          <a:solidFill>
                            <a:srgbClr val="3A7317"/>
                          </a:solidFill>
                        </a:rPr>
                        <a:t>✓ Selected</a:t>
                      </a:r>
                    </a:p>
                  </a:txBody>
                  <a:tcPr anchor="ctr">
                    <a:solidFill>
                      <a:srgbClr val="E8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006422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28623258-2AC6-4EEE-87E5-6C35B43DCE91}"/>
              </a:ext>
            </a:extLst>
          </p:cNvPr>
          <p:cNvSpPr txBox="1"/>
          <p:nvPr/>
        </p:nvSpPr>
        <p:spPr>
          <a:xfrm>
            <a:off x="457200" y="4635500"/>
            <a:ext cx="8229600" cy="6924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00" i="1">
                <a:solidFill>
                  <a:srgbClr val="444444"/>
                </a:solidFill>
              </a:rPr>
              <a:t>Note: XGBoost was selected as the final classifier due to its highest AUROC, best PhysioNet utility score, and native handling of missing ICU time-series values. The optimal decision threshold (0.66) was tuned via cross-validation to maximize clinical recall of high-risk patients.</a:t>
            </a:r>
            <a:endParaRPr lang="zh-TW" altLang="en-US" sz="1300" i="1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Independent Test Set B Evaluation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12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8229600" cy="1371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Evaluated on the independent validation cohort Set B (4,000 patient records) to assess generalizability</a:t>
            </a:r>
          </a:p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Test Accuracy: </a:t>
            </a:r>
            <a:r>
              <a:rPr lang="en-US" sz="16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87.30%</a:t>
            </a: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 | Test AUROC: </a:t>
            </a:r>
            <a:r>
              <a:rPr lang="en-US" sz="16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0.8612</a:t>
            </a: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 (indicating robust discrimination)</a:t>
            </a:r>
          </a:p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PhysioNet Challenge Score: </a:t>
            </a:r>
            <a:r>
              <a:rPr lang="en-US" sz="16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0.4137</a:t>
            </a: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 (Sensitivity: 41.37%, Precision: 57.32%)</a:t>
            </a:r>
          </a:p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Confusion Matrix: TN = 3,257 | FP = 175 | FN = 333 | TP = 235</a:t>
            </a:r>
          </a:p>
        </p:txBody>
      </p:sp>
      <p:pic>
        <p:nvPicPr>
          <p:cNvPr id="8" name="Picture 7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68600"/>
            <a:ext cx="77724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750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Key Physiological Predictors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13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8229600" cy="24765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Glasgow Coma Score (GCS): </a:t>
            </a: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GCS_min and GCS_last are the most critical predictors, reflecting neurological function</a:t>
            </a:r>
          </a:p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Age: </a:t>
            </a: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Older patients have lower physiological reserve, correlating with high risk</a:t>
            </a:r>
          </a:p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Blood Urea Nitrogen (BUN): </a:t>
            </a: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Mean BUN_mean reflects renal function and fluid balance</a:t>
            </a:r>
          </a:p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Urine Output: </a:t>
            </a: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Mean urine output (Urine_mean) is a crucial marker for tissue perfusion</a:t>
            </a:r>
          </a:p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White Blood Cell (WBC): </a:t>
            </a: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High WBC_mean counts indicate systemic inflammation or sepsis</a:t>
            </a:r>
          </a:p>
        </p:txBody>
      </p:sp>
      <p:pic>
        <p:nvPicPr>
          <p:cNvPr id="8" name="Picture 7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10000"/>
            <a:ext cx="7772400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452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7AD1717-D0CF-4370-BECF-6A6B709A4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14</a:t>
            </a:fld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03B1D2F-3D46-5E6A-1BDA-24ACB3C9CC6A}"/>
              </a:ext>
            </a:extLst>
          </p:cNvPr>
          <p:cNvSpPr txBox="1">
            <a:spLocks/>
          </p:cNvSpPr>
          <p:nvPr/>
        </p:nvSpPr>
        <p:spPr>
          <a:xfrm>
            <a:off x="1003300" y="2349500"/>
            <a:ext cx="7124700" cy="17145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>
                <a:latin typeface="Cambria"/>
                <a:ea typeface="微軟正黑體"/>
                <a:cs typeface="Cambria"/>
              </a:defRPr>
            </a:pPr>
            <a:r>
              <a:rPr sz="3600" b="1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5. Interactive Clinical Dashboard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14FE9B2-8AE8-4B1F-BE73-9295AA973327}"/>
              </a:ext>
            </a:extLst>
          </p:cNvPr>
          <p:cNvSpPr txBox="1"/>
          <p:nvPr/>
        </p:nvSpPr>
        <p:spPr>
          <a:xfrm>
            <a:off x="1003300" y="4191000"/>
            <a:ext cx="71247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i="1">
                <a:solidFill>
                  <a:srgbClr val="2F5897"/>
                </a:solidFill>
              </a:rPr>
              <a:t>Streamlit app design, visualization modules, and UX improvements</a:t>
            </a:r>
            <a:endParaRPr lang="zh-TW" altLang="en-US" i="1">
              <a:solidFill>
                <a:srgbClr val="2F589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Streamlit Clinical Dashboard Platform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15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8229600" cy="22860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Sidebar Controls &amp; Citations: </a:t>
            </a: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Patient selectors and profile banners moved to the sidebar along with clear data source attributions</a:t>
            </a:r>
          </a:p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Longitudinal Explorer: </a:t>
            </a: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High-contrast vitals cards with auto-height layout, Plotly Gauge risk scores with suffix and font constraint, and scrollable alert panels</a:t>
            </a:r>
          </a:p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Risk Simulator: </a:t>
            </a:r>
            <a:r>
              <a:rPr lang="en-US" sz="16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Grouped 5×2 physiological sliders with side-by-side gauge predictions and clinical recommendations, updating in real-time on a single page</a:t>
            </a:r>
          </a:p>
        </p:txBody>
      </p:sp>
      <p:pic>
        <p:nvPicPr>
          <p:cNvPr id="8" name="Picture 7" descr="dashboard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83000"/>
            <a:ext cx="73152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960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7AD1717-D0CF-4370-BECF-6A6B709A4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16</a:t>
            </a:fld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03B1D2F-3D46-5E6A-1BDA-24ACB3C9CC6A}"/>
              </a:ext>
            </a:extLst>
          </p:cNvPr>
          <p:cNvSpPr txBox="1">
            <a:spLocks/>
          </p:cNvSpPr>
          <p:nvPr/>
        </p:nvSpPr>
        <p:spPr>
          <a:xfrm>
            <a:off x="1003300" y="2349500"/>
            <a:ext cx="7124700" cy="17145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>
                <a:latin typeface="Cambria"/>
                <a:ea typeface="微軟正黑體"/>
                <a:cs typeface="Cambria"/>
              </a:defRPr>
            </a:pPr>
            <a:r>
              <a:rPr sz="3600" b="1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6. Conclusion &amp; Future Work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885E74B-A2A4-4248-BE37-918EF612C58B}"/>
              </a:ext>
            </a:extLst>
          </p:cNvPr>
          <p:cNvSpPr txBox="1"/>
          <p:nvPr/>
        </p:nvSpPr>
        <p:spPr>
          <a:xfrm>
            <a:off x="1003300" y="4191000"/>
            <a:ext cx="71247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i="1">
                <a:solidFill>
                  <a:srgbClr val="2F5897"/>
                </a:solidFill>
              </a:rPr>
              <a:t>Key findings, limitations, and directions for future development</a:t>
            </a:r>
            <a:endParaRPr lang="zh-TW" altLang="en-US" i="1">
              <a:solidFill>
                <a:srgbClr val="2F589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4F870B-ECD7-49A1-92EB-E572A51C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>
                <a:latin typeface="Cambria"/>
                <a:ea typeface="微軟正黑體"/>
                <a:cs typeface="Cambria"/>
              </a:defRPr>
            </a:pPr>
            <a:r>
              <a:rPr>
                <a:latin typeface="Cambria"/>
                <a:ea typeface="微軟正黑體"/>
                <a:cs typeface="Cambria"/>
              </a:rPr>
              <a:t>Key Takeaways &amp; Next Steps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C6A9C-08BA-4031-8C63-53238527D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429807-B679-4391-B385-1CBDB8802DC6}" type="slidenum">
              <a:rPr lang="zh-TW" altLang="en-US" smtClean="0"/>
              <a:pPr/>
              <a:t>17</a:t>
            </a:fld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F6DEE7-A933-473F-BF0A-815501C6E398}"/>
              </a:ext>
            </a:extLst>
          </p:cNvPr>
          <p:cNvSpPr txBox="1">
            <a:spLocks/>
          </p:cNvSpPr>
          <p:nvPr/>
        </p:nvSpPr>
        <p:spPr>
          <a:xfrm>
            <a:off x="457200" y="1261872"/>
            <a:ext cx="7948752" cy="4114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lang="zh-TW" altLang="en-US" sz="2400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3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lang="zh-TW" altLang="en-US" sz="2000" kern="1200" dirty="0" smtClean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zh-TW" altLang="en-US" sz="2000" kern="1200" dirty="0" smtClean="0">
                <a:solidFill>
                  <a:schemeClr val="bg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標楷體" pitchFamily="65" charset="-120"/>
                <a:cs typeface="+mj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514350" indent="-457200" algn="l">
              <a:spcBef>
                <a:spcPts val="2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Conclusion:</a:t>
            </a:r>
          </a:p>
          <a:p>
            <a:pPr marL="1023938" lvl="1" indent="-623888" algn="l">
              <a:spcBef>
                <a:spcPts val="15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5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Developed an end-to-end Python pipeline from raw data ingestion to interactive web UI</a:t>
            </a:r>
          </a:p>
          <a:p>
            <a:pPr marL="1023938" lvl="1" indent="-623888" algn="l">
              <a:spcBef>
                <a:spcPts val="15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5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XGBoost model outperformed linear and traditional ensemble approaches, achieving AUROC of 0.8612</a:t>
            </a:r>
          </a:p>
          <a:p>
            <a:pPr marL="1023938" lvl="1" indent="-623888" algn="l">
              <a:spcBef>
                <a:spcPts val="15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5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The clinical risk simulator bridges the gap between predictive ML models and clinical utility</a:t>
            </a:r>
          </a:p>
          <a:p>
            <a:pPr marL="514350" indent="-457200" algn="l">
              <a:spcBef>
                <a:spcPts val="30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600" b="1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Future Work:</a:t>
            </a:r>
          </a:p>
          <a:p>
            <a:pPr marL="1023938" lvl="1" indent="-623888" algn="l">
              <a:spcBef>
                <a:spcPts val="15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5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Explore deep learning recurrent architectures (LSTMs, GRUs, Transformers) to process raw time-series directly</a:t>
            </a:r>
          </a:p>
          <a:p>
            <a:pPr marL="1023938" lvl="1" indent="-623888" algn="l">
              <a:spcBef>
                <a:spcPts val="150"/>
              </a:spcBef>
              <a:defRPr>
                <a:latin typeface="Cambria"/>
                <a:ea typeface="微軟正黑體"/>
                <a:cs typeface="Cambria"/>
              </a:defRPr>
            </a:pPr>
            <a:r>
              <a:rPr lang="en-US" sz="1500" dirty="0">
                <a:solidFill>
                  <a:schemeClr val="tx1"/>
                </a:solidFill>
                <a:latin typeface="Cambria"/>
                <a:ea typeface="微軟正黑體"/>
                <a:cs typeface="Cambria"/>
              </a:rPr>
              <a:t>Validate model generalizability using external databases (e.g., MIMIC-IV) and multi-center cohorts</a:t>
            </a:r>
          </a:p>
        </p:txBody>
      </p:sp>
    </p:spTree>
    <p:extLst>
      <p:ext uri="{BB962C8B-B14F-4D97-AF65-F5344CB8AC3E}">
        <p14:creationId xmlns:p14="http://schemas.microsoft.com/office/powerpoint/2010/main" val="10232199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高階主管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EBEE7890-3EF3-4BA0-A20B-E2908970E2E4}" vid="{1898CB38-FADE-47F9-94EA-15BAEDA81CDC}"/>
    </a:ext>
  </a:extLst>
</a:theme>
</file>

<file path=ppt/theme/theme2.xml><?xml version="1.0" encoding="utf-8"?>
<a:theme xmlns:a="http://schemas.openxmlformats.org/drawingml/2006/main" name="高階主管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EBEE7890-3EF3-4BA0-A20B-E2908970E2E4}" vid="{1898CB38-FADE-47F9-94EA-15BAEDA81CDC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01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5E74F0E-F466-4DC8-B972-7D4C68BBB62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0258aa7-c690-45c1-b6ee-5d3e48a8b7c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29113</TotalTime>
  <Words>1114</Words>
  <Application>Microsoft Office PowerPoint</Application>
  <PresentationFormat>如螢幕大小 (4:3)</PresentationFormat>
  <Paragraphs>116</Paragraphs>
  <Slides>17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17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Palatino Linotype</vt:lpstr>
      <vt:lpstr>Wingdings</vt:lpstr>
      <vt:lpstr>高階主管</vt:lpstr>
      <vt:lpstr>高階主管</vt:lpstr>
      <vt:lpstr>ICU Patient Mortality Predictor &amp; Physiological Analyzer (ICU-MPLA)</vt:lpstr>
      <vt:lpstr>PowerPoint 簡報</vt:lpstr>
      <vt:lpstr>Clinical Background &amp; Challenges</vt:lpstr>
      <vt:lpstr>PowerPoint 簡報</vt:lpstr>
      <vt:lpstr>Object-Oriented Software Design</vt:lpstr>
      <vt:lpstr>Multiprocessing Performance Benchmark</vt:lpstr>
      <vt:lpstr>PowerPoint 簡報</vt:lpstr>
      <vt:lpstr>PhysioNet Challenge 2012 Cohort</vt:lpstr>
      <vt:lpstr>Longitudinal Feature Engineering</vt:lpstr>
      <vt:lpstr>PowerPoint 簡報</vt:lpstr>
      <vt:lpstr>Model Comparison (5-Fold Stratified CV)</vt:lpstr>
      <vt:lpstr>Independent Test Set B Evaluation</vt:lpstr>
      <vt:lpstr>Key Physiological Predictors</vt:lpstr>
      <vt:lpstr>PowerPoint 簡報</vt:lpstr>
      <vt:lpstr>Streamlit Clinical Dashboard Platform</vt:lpstr>
      <vt:lpstr>PowerPoint 簡報</vt:lpstr>
      <vt:lpstr>Key Takeaways &amp;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EDC training</dc:title>
  <dc:creator>Shelly Liao</dc:creator>
  <cp:lastModifiedBy>Wayne Lee</cp:lastModifiedBy>
  <cp:revision>554</cp:revision>
  <cp:lastPrinted>2014-06-09T09:28:52Z</cp:lastPrinted>
  <dcterms:created xsi:type="dcterms:W3CDTF">2019-11-24T10:28:49Z</dcterms:created>
  <dcterms:modified xsi:type="dcterms:W3CDTF">2026-05-25T09:34:27Z</dcterms:modified>
</cp:coreProperties>
</file>