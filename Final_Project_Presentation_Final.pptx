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48" r:id="rId1"/>
  </p:sldMasterIdLst>
  <p:notesMasterIdLst>
    <p:notesMasterId r:id="rId80"/>
  </p:notesMasterIdLst>
  <p:handoutMasterIdLst>
    <p:handoutMasterId r:id="rId81"/>
  </p:handoutMasterIdLst>
  <p:sldIdLst>
    <p:sldId id="581" r:id="rId2"/>
    <p:sldId id="582" r:id="rId4"/>
    <p:sldId id="595" r:id="rId7"/>
    <p:sldId id="801" r:id="rId15"/>
    <p:sldId id="806" r:id="rId20"/>
    <p:sldId id="800" r:id="rId89"/>
    <p:sldId id="811" r:id="rId25"/>
    <p:sldId id="812" r:id="rId26"/>
    <p:sldId id="807" r:id="rId21"/>
    <p:sldId id="813" r:id="rId27"/>
    <p:sldId id="802" r:id="rId16"/>
    <p:sldId id="808" r:id="rId22"/>
    <p:sldId id="809" r:id="rId23"/>
    <p:sldId id="803" r:id="rId17"/>
    <p:sldId id="799" r:id="rId88"/>
    <p:sldId id="814" r:id="rId28"/>
    <p:sldId id="815" r:id="rId29"/>
    <p:sldId id="804" r:id="rId18"/>
    <p:sldId id="816" r:id="rId30"/>
    <p:sldId id="817" r:id="rId31"/>
    <p:sldId id="805" r:id="rId19"/>
    <p:sldId id="810" r:id="rId24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F549A645-9107-4F72-8111-87069A7F72B0}">
          <p14:sldIdLst>
            <p14:sldId id="581"/>
            <p14:sldId id="540"/>
          </p14:sldIdLst>
        </p14:section>
        <p14:section name="EDC" id="{A5E19780-F2F9-42C7-9AFA-6DC36578A4EC}">
          <p14:sldIdLst/>
        </p14:section>
        <p14:section name="Access Application" id="{73120D84-1C8A-4324-8F08-65FC735B60B3}">
          <p14:sldIdLst>
            <p14:sldId id="582"/>
            <p14:sldId id="603"/>
            <p14:sldId id="586"/>
            <p14:sldId id="595"/>
            <p14:sldId id="604"/>
            <p14:sldId id="605"/>
            <p14:sldId id="686"/>
            <p14:sldId id="588"/>
            <p14:sldId id="477"/>
            <p14:sldId id="482"/>
            <p14:sldId id="478"/>
            <p14:sldId id="479"/>
            <p14:sldId id="682"/>
          </p14:sldIdLst>
        </p14:section>
        <p14:section name="Data Entry" id="{A0FF02A1-48FB-41FE-8978-640F5144F1F8}">
          <p14:sldIdLst>
            <p14:sldId id="607"/>
            <p14:sldId id="554"/>
            <p14:sldId id="608"/>
            <p14:sldId id="609"/>
            <p14:sldId id="610"/>
            <p14:sldId id="612"/>
            <p14:sldId id="611"/>
            <p14:sldId id="683"/>
            <p14:sldId id="687"/>
            <p14:sldId id="684"/>
            <p14:sldId id="561"/>
            <p14:sldId id="685"/>
            <p14:sldId id="614"/>
            <p14:sldId id="615"/>
            <p14:sldId id="698"/>
            <p14:sldId id="632"/>
            <p14:sldId id="633"/>
            <p14:sldId id="634"/>
            <p14:sldId id="591"/>
          </p14:sldIdLst>
        </p14:section>
        <p14:section name="eCRF Page Notes" id="{DAA4346D-7174-4A51-B950-FEED0FA7D207}">
          <p14:sldIdLst>
            <p14:sldId id="599"/>
            <p14:sldId id="491"/>
            <p14:sldId id="688"/>
            <p14:sldId id="700"/>
            <p14:sldId id="711"/>
            <p14:sldId id="712"/>
            <p14:sldId id="781"/>
            <p14:sldId id="788"/>
            <p14:sldId id="789"/>
            <p14:sldId id="785"/>
            <p14:sldId id="705"/>
            <p14:sldId id="787"/>
            <p14:sldId id="791"/>
            <p14:sldId id="722"/>
            <p14:sldId id="782"/>
            <p14:sldId id="783"/>
          </p14:sldIdLst>
        </p14:section>
        <p14:section name="Query" id="{D0C2EBFB-8BA8-4B88-B516-65FF25759F6B}">
          <p14:sldIdLst>
            <p14:sldId id="723"/>
            <p14:sldId id="724"/>
            <p14:sldId id="725"/>
            <p14:sldId id="726"/>
            <p14:sldId id="796"/>
            <p14:sldId id="727"/>
            <p14:sldId id="728"/>
          </p14:sldIdLst>
        </p14:section>
        <p14:section name="SDV and Lock" id="{1C4445B6-7D43-4E9A-B4CB-591E9EBAC079}">
          <p14:sldIdLst>
            <p14:sldId id="729"/>
            <p14:sldId id="730"/>
            <p14:sldId id="793"/>
            <p14:sldId id="795"/>
            <p14:sldId id="731"/>
          </p14:sldIdLst>
        </p14:section>
        <p14:section name="eSignature" id="{2B964839-C98F-4CA3-8096-09539BB1A402}">
          <p14:sldIdLst>
            <p14:sldId id="797"/>
            <p14:sldId id="798"/>
            <p14:sldId id="701"/>
            <p14:sldId id="702"/>
            <p14:sldId id="703"/>
            <p14:sldId id="681"/>
          </p14:sldIdLst>
        </p14:section>
        <p14:section name="Emergency Unblinding" id="{A1976C0B-74D5-4945-8545-E393649B452D}">
          <p14:sldIdLst>
            <p14:sldId id="693"/>
            <p14:sldId id="647"/>
            <p14:sldId id="648"/>
            <p14:sldId id="649"/>
            <p14:sldId id="650"/>
            <p14:sldId id="706"/>
            <p14:sldId id="305"/>
          </p14:sldIdLst>
        </p14:section>
        <p14:section name="Demonstration" id="{B1CD3B53-AEAF-4D13-B5C0-C55680AB8D68}">
          <p14:sldIdLst>
            <p14:sldId id="679"/>
          </p14:sldIdLst>
        </p14:section>
        <p14:section name="Q&amp;A" id="{8A0CB5F1-BF71-4167-9CB0-3FAE90B42D53}">
          <p14:sldIdLst>
            <p14:sldId id="667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2B4D0E-C5E0-5E64-A773-0F0192B6B8B8}" name="Wayne Lee" initials="WL" userId="549b2abbf9d8194b" providerId="Windows Live"/>
  <p188:author id="{5D45A839-1714-8325-1F0B-B02C75CDED08}" name="Wayne" initials="W" userId="Wayne" providerId="None"/>
  <p188:author id="{3845707B-F4B0-69DD-E142-B9DE6471AD29}" name="Blake Chin" initials="BC" userId="f21d4e491758973f" providerId="Windows Live"/>
  <p188:author id="{C04D8D8F-6558-6726-7207-06763CD05795}" name="Judy Luo" initials="JL" userId="c4be65be88a786ea" providerId="Windows Live"/>
  <p188:author id="{845732C6-21AB-B4F9-A332-FA4FEB1D2563}" name="iris yang" initials="iy" userId="74786658df68b10a" providerId="Windows Live"/>
  <p188:author id="{996D8FD4-89D8-F84A-0E68-CAF96812F7D2}" name="Cathy Hsu" initials="CH" userId="b6e74ed187bb5876" providerId="Windows Live"/>
  <p188:author id="{A32D04F1-3BC3-186A-05B4-648C36F5A62E}" name="Shelly Liao" initials="SL" userId="8dc155537c9b76c2" providerId="Windows Live"/>
  <p188:author id="{D72A1FF1-6322-4172-4D36-FEBC97051D26}" name="Tony Liu" initials="TL" userId="470b06e07b62a9c0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milla" initials="CC" lastIdx="3" clrIdx="0">
    <p:extLst>
      <p:ext uri="{19B8F6BF-5375-455C-9EA6-DF929625EA0E}">
        <p15:presenceInfo xmlns:p15="http://schemas.microsoft.com/office/powerpoint/2012/main" userId="Camil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2705"/>
    <a:srgbClr val="0F943E"/>
    <a:srgbClr val="5FEF92"/>
    <a:srgbClr val="CC0000"/>
    <a:srgbClr val="14C654"/>
    <a:srgbClr val="FF0066"/>
    <a:srgbClr val="3E7DD7"/>
    <a:srgbClr val="2AA6D5"/>
    <a:srgbClr val="EDFFF3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88" autoAdjust="0"/>
    <p:restoredTop sz="88355" autoAdjust="0"/>
  </p:normalViewPr>
  <p:slideViewPr>
    <p:cSldViewPr>
      <p:cViewPr varScale="1">
        <p:scale>
          <a:sx n="56" d="100"/>
          <a:sy n="56" d="100"/>
        </p:scale>
        <p:origin x="1348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36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546"/>
    </p:cViewPr>
  </p:sorterViewPr>
  <p:notesViewPr>
    <p:cSldViewPr>
      <p:cViewPr varScale="1">
        <p:scale>
          <a:sx n="53" d="100"/>
          <a:sy n="53" d="100"/>
        </p:scale>
        <p:origin x="2664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7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11.xml"/><Relationship Id="rId17" Type="http://schemas.openxmlformats.org/officeDocument/2006/relationships/slide" Target="slides/slide14.xml"/><Relationship Id="rId18" Type="http://schemas.openxmlformats.org/officeDocument/2006/relationships/slide" Target="slides/slide18.xml"/><Relationship Id="rId19" Type="http://schemas.openxmlformats.org/officeDocument/2006/relationships/slide" Target="slides/slide21.xml"/><Relationship Id="rId20" Type="http://schemas.openxmlformats.org/officeDocument/2006/relationships/slide" Target="slides/slide5.xml"/><Relationship Id="rId21" Type="http://schemas.openxmlformats.org/officeDocument/2006/relationships/slide" Target="slides/slide9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22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10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80" Type="http://schemas.openxmlformats.org/officeDocument/2006/relationships/notesMaster" Target="notesMasters/notesMaster1.xml"/><Relationship Id="rId81" Type="http://schemas.openxmlformats.org/officeDocument/2006/relationships/handoutMaster" Target="handoutMasters/handoutMaster1.xml"/><Relationship Id="rId82" Type="http://schemas.openxmlformats.org/officeDocument/2006/relationships/commentAuthors" Target="commentAuthors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Relationship Id="rId87" Type="http://schemas.microsoft.com/office/2018/10/relationships/authors" Target="authors.xml"/><Relationship Id="rId88" Type="http://schemas.openxmlformats.org/officeDocument/2006/relationships/slide" Target="slides/slide15.xml"/><Relationship Id="rId89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483FE-B35A-42AA-A120-00A9953BB36E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8F7D8-0D2A-4B86-9A18-F33E19CB6B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928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4702F-36A4-4D06-A4BA-44ADCB6820EE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DE539-789E-446C-B031-E842A26D9D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7059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"Good afternoon, everyone. Thank you for joining today's EDC system training session. My name is Shelly and today I will be walking you through the electronic data capture system for our study: 'A First-in-Human Study to Assess the Safety and Tolerability of SNS851.' This study is sponsored by Oneness Biotech." 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DE539-789E-446C-B031-E842A26D9DEB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851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Let's begin with the first section: how to apply for access and log into the system for the first time.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DE539-789E-446C-B031-E842A26D9DEB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5989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When setting up your password, it must be at least 8 characters long and include a mix of alphabets</a:t>
            </a:r>
            <a:r>
              <a:rPr lang="zh-TW" altLang="en-US" dirty="0"/>
              <a:t> </a:t>
            </a:r>
            <a:r>
              <a:rPr lang="en-US" altLang="zh-TW" dirty="0"/>
              <a:t>&lt;</a:t>
            </a:r>
            <a:r>
              <a:rPr lang="zh-TW" altLang="en-US" dirty="0"/>
              <a:t>ㄟ否北</a:t>
            </a:r>
            <a:r>
              <a:rPr lang="en-US" altLang="zh-TW" dirty="0"/>
              <a:t>&gt; and letters. For security purposes, your password will expire and must be updated every 90 days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DE539-789E-446C-B031-E842A26D9DEB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8849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2603375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4800">
                <a:effectLst/>
                <a:latin typeface="Cambria" panose="02040503050406030204" pitchFamily="18" charset="0"/>
                <a:ea typeface="標楷體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880247"/>
            <a:ext cx="6400800" cy="1219200"/>
          </a:xfrm>
        </p:spPr>
        <p:txBody>
          <a:bodyPr>
            <a:noAutofit/>
          </a:bodyPr>
          <a:lstStyle>
            <a:lvl1pPr marL="0" indent="0" algn="ctr">
              <a:buNone/>
              <a:defRPr lang="en-US" sz="3200" kern="1200" dirty="0">
                <a:solidFill>
                  <a:schemeClr val="tx2"/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7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/>
                <a:latin typeface="Cambria" panose="020405030504060302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標楷體" panose="03000509000000000000" pitchFamily="65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>
                <a:latin typeface="Cambria" panose="02040503050406030204" pitchFamily="18" charset="0"/>
              </a:defRPr>
            </a:lvl1pPr>
            <a:lvl2pPr>
              <a:defRPr sz="1600">
                <a:latin typeface="Cambria" panose="02040503050406030204" pitchFamily="18" charset="0"/>
              </a:defRPr>
            </a:lvl2pPr>
            <a:lvl3pPr>
              <a:defRPr sz="1600">
                <a:latin typeface="Cambria" panose="02040503050406030204" pitchFamily="18" charset="0"/>
              </a:defRPr>
            </a:lvl3pPr>
            <a:lvl4pPr>
              <a:defRPr sz="1600">
                <a:latin typeface="Cambria" panose="02040503050406030204" pitchFamily="18" charset="0"/>
              </a:defRPr>
            </a:lvl4pPr>
            <a:lvl5pPr>
              <a:defRPr sz="1600">
                <a:latin typeface="Cambria" panose="020405030504060302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>
                <a:latin typeface="Cambria" panose="02040503050406030204" pitchFamily="18" charset="0"/>
              </a:defRPr>
            </a:lvl1pPr>
            <a:lvl2pPr>
              <a:defRPr sz="2800">
                <a:latin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</a:defRPr>
            </a:lvl3pPr>
            <a:lvl4pPr>
              <a:defRPr sz="2000">
                <a:latin typeface="Cambria" panose="02040503050406030204" pitchFamily="18" charset="0"/>
              </a:defRPr>
            </a:lvl4pPr>
            <a:lvl5pPr>
              <a:defRPr sz="2000">
                <a:latin typeface="Cambria" panose="020405030504060302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3000">
              <a:schemeClr val="bg1">
                <a:lumMod val="95000"/>
              </a:schemeClr>
            </a:gs>
            <a:gs pos="83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50254"/>
            <a:ext cx="8229600" cy="8367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4426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5" y="6036533"/>
            <a:ext cx="1080518" cy="900686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27348107"/>
              </p:ext>
            </p:extLst>
          </p:nvPr>
        </p:nvGraphicFramePr>
        <p:xfrm>
          <a:off x="1249125" y="6657443"/>
          <a:ext cx="7190595" cy="76200"/>
        </p:xfrm>
        <a:graphic>
          <a:graphicData uri="http://schemas.openxmlformats.org/drawingml/2006/table">
            <a:tbl>
              <a:tblPr firstRow="1" firstCol="1" bandRow="1"/>
              <a:tblGrid>
                <a:gridCol w="215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500" kern="100" cap="all" dirty="0">
                          <a:effectLst/>
                          <a:latin typeface="Cambria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R="304800" latinLnBrk="1">
                        <a:spcAft>
                          <a:spcPts val="0"/>
                        </a:spcAft>
                        <a:tabLst>
                          <a:tab pos="2637155" algn="ctr"/>
                          <a:tab pos="2689860" algn="l"/>
                          <a:tab pos="5274310" algn="r"/>
                        </a:tabLst>
                      </a:pPr>
                      <a:endParaRPr lang="en-US" sz="500" kern="100" cap="all" dirty="0">
                        <a:solidFill>
                          <a:srgbClr val="FFFFFF"/>
                        </a:solidFill>
                        <a:effectLst/>
                        <a:latin typeface="Cambria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橢圓 3"/>
          <p:cNvSpPr/>
          <p:nvPr userDrawn="1"/>
        </p:nvSpPr>
        <p:spPr>
          <a:xfrm>
            <a:off x="8547148" y="6635452"/>
            <a:ext cx="72008" cy="7200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7542617" y="6425417"/>
            <a:ext cx="1440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Confidential</a:t>
            </a:r>
            <a:endParaRPr lang="zh-TW" altLang="en-US" sz="1200" dirty="0">
              <a:solidFill>
                <a:schemeClr val="bg1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3200" b="1" kern="1200">
          <a:solidFill>
            <a:schemeClr val="accent4">
              <a:lumMod val="50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2"/>
        </a:buClr>
        <a:buFont typeface="Wingdings" panose="05000000000000000000" pitchFamily="2" charset="2"/>
        <a:buChar char="n"/>
        <a:defRPr lang="zh-TW" altLang="en-US" sz="2400" kern="1200" dirty="0" smtClean="0">
          <a:solidFill>
            <a:schemeClr val="tx2">
              <a:lumMod val="75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2"/>
        </a:buClr>
        <a:buSzPct val="80000"/>
        <a:buFont typeface="Wingdings" panose="05000000000000000000" pitchFamily="2" charset="2"/>
        <a:buChar char="Ø"/>
        <a:defRPr lang="zh-TW" altLang="en-US" sz="2000" kern="1200" dirty="0" smtClean="0">
          <a:solidFill>
            <a:schemeClr val="accent3">
              <a:lumMod val="75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2pPr>
      <a:lvl3pPr marL="1257300" indent="-342900" algn="l" defTabSz="914400" rtl="0" eaLnBrk="1" latinLnBrk="0" hangingPunct="1">
        <a:spcBef>
          <a:spcPct val="20000"/>
        </a:spcBef>
        <a:buClr>
          <a:schemeClr val="accent2"/>
        </a:buClr>
        <a:buSzPct val="80000"/>
        <a:buFont typeface="Wingdings" panose="05000000000000000000" pitchFamily="2" charset="2"/>
        <a:buChar char="Ø"/>
        <a:defRPr lang="zh-TW" altLang="en-US" sz="2000" kern="1200" dirty="0" smtClean="0">
          <a:solidFill>
            <a:schemeClr val="accent2">
              <a:lumMod val="75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lang="zh-TW" altLang="en-US" sz="2000" kern="1200" dirty="0" smtClean="0">
          <a:solidFill>
            <a:schemeClr val="accent5">
              <a:lumMod val="75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lang="zh-TW" altLang="en-US" sz="2000" kern="1200" dirty="0" smtClean="0">
          <a:solidFill>
            <a:schemeClr val="bg1">
              <a:lumMod val="50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5" y="6036533"/>
            <a:ext cx="1080518" cy="900686"/>
          </a:xfrm>
          <a:prstGeom prst="rect">
            <a:avLst/>
          </a:prstGeom>
        </p:spPr>
      </p:pic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249125" y="6657443"/>
          <a:ext cx="7190595" cy="76200"/>
        </p:xfrm>
        <a:graphic>
          <a:graphicData uri="http://schemas.openxmlformats.org/drawingml/2006/table">
            <a:tbl>
              <a:tblPr firstRow="1" firstCol="1" bandRow="1"/>
              <a:tblGrid>
                <a:gridCol w="215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500" kern="100" cap="all" dirty="0">
                          <a:effectLst/>
                          <a:latin typeface="Cambria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R="304800" latinLnBrk="1">
                        <a:spcAft>
                          <a:spcPts val="0"/>
                        </a:spcAft>
                        <a:tabLst>
                          <a:tab pos="2637155" algn="ctr"/>
                          <a:tab pos="2689860" algn="l"/>
                          <a:tab pos="5274310" algn="r"/>
                        </a:tabLst>
                      </a:pPr>
                      <a:endParaRPr lang="en-US" sz="500" kern="100" cap="all" dirty="0">
                        <a:solidFill>
                          <a:srgbClr val="FFFFFF"/>
                        </a:solidFill>
                        <a:effectLst/>
                        <a:latin typeface="Cambria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1371600" y="2802792"/>
            <a:ext cx="6400800" cy="1512168"/>
          </a:xfrm>
        </p:spPr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sz="44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ICU Patient Mortality Predictor &amp; Physiological Analyzer (ICU-MPLA)</a:t>
            </a:r>
            <a:endParaRPr lang="zh-TW" alt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副標題 1">
            <a:extLst>
              <a:ext uri="{FF2B5EF4-FFF2-40B4-BE49-F238E27FC236}">
                <a16:creationId xmlns:a16="http://schemas.microsoft.com/office/drawing/2014/main" id="{DC6ABF15-7FF3-4F38-A74D-FEE76EA29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779832"/>
            <a:ext cx="6400800" cy="1567156"/>
          </a:xfrm>
        </p:spPr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b="1"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ICU Mortality Prediction &amp; Physiological Time-Series Analysis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ea typeface="Cambria" panose="02040503050406030204" pitchFamily="18" charset="0"/>
            </a:endParaRPr>
          </a:p>
        </p:txBody>
      </p:sp>
      <p:sp>
        <p:nvSpPr>
          <p:cNvPr id="6" name="標題 3">
            <a:extLst>
              <a:ext uri="{FF2B5EF4-FFF2-40B4-BE49-F238E27FC236}">
                <a16:creationId xmlns:a16="http://schemas.microsoft.com/office/drawing/2014/main" id="{60D84796-6CAA-4543-A519-9C88ED15831B}"/>
              </a:ext>
            </a:extLst>
          </p:cNvPr>
          <p:cNvSpPr txBox="1">
            <a:spLocks/>
          </p:cNvSpPr>
          <p:nvPr/>
        </p:nvSpPr>
        <p:spPr>
          <a:xfrm>
            <a:off x="976703" y="-61352"/>
            <a:ext cx="7190595" cy="3022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accent4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</a:lstStyle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b="0" i="0" u="none" sz="16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Course: Advanced Python Programming | Wayne Lee</a:t>
            </a:r>
            <a:endParaRPr lang="zh-TW" altLang="en-US" sz="2400" b="0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451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AD1717-D0CF-4370-BECF-6A6B709A4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2</a:t>
            </a:fld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03B1D2F-3D46-5E6A-1BDA-24ACB3C9CC6A}"/>
              </a:ext>
            </a:extLst>
          </p:cNvPr>
          <p:cNvSpPr txBox="1">
            <a:spLocks/>
          </p:cNvSpPr>
          <p:nvPr/>
        </p:nvSpPr>
        <p:spPr>
          <a:xfrm>
            <a:off x="1007604" y="2348880"/>
            <a:ext cx="7128792" cy="140415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b="1" sz="36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1. Introduction &amp; Background</a:t>
            </a:r>
          </a:p>
        </p:txBody>
      </p:sp>
    </p:spTree>
    <p:extLst>
      <p:ext uri="{BB962C8B-B14F-4D97-AF65-F5344CB8AC3E}">
        <p14:creationId xmlns:p14="http://schemas.microsoft.com/office/powerpoint/2010/main" val="3551104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Clinical Background &amp; Challenges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7948752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ICU mortality risk prediction is vital for clinical decision support, resource allocation, and patient stratification in clinical trials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Traditional acuity scoring systems (e.g., APACHE II, SAPS-II) are static, rule-based, and fail to capture complex temporal dynamics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Irregularly sampled physiological time-series data presents unique challenges: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High dimensionality and varying sampling frequencies (vital signs vs. lab values)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Significant proportion of missing values as lab tests are ordered only when clinically indicated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Severe outcome class imbalance (mortality rate ~14%)</a:t>
            </a:r>
          </a:p>
        </p:txBody>
      </p:sp>
    </p:spTree>
    <p:extLst>
      <p:ext uri="{BB962C8B-B14F-4D97-AF65-F5344CB8AC3E}">
        <p14:creationId xmlns:p14="http://schemas.microsoft.com/office/powerpoint/2010/main" val="1056293670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AD1717-D0CF-4370-BECF-6A6B709A4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03B1D2F-3D46-5E6A-1BDA-24ACB3C9CC6A}"/>
              </a:ext>
            </a:extLst>
          </p:cNvPr>
          <p:cNvSpPr txBox="1">
            <a:spLocks/>
          </p:cNvSpPr>
          <p:nvPr/>
        </p:nvSpPr>
        <p:spPr>
          <a:xfrm>
            <a:off x="1007604" y="2348880"/>
            <a:ext cx="7128792" cy="140415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b="1" sz="36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2. Software Architecture &amp; Concurrency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Object-Oriented Software Design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7948752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The codebase is refactored from flat procedural scripts to an Object-Oriented design: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**`PatientRecord` Class**: Encapsulates clinical demographics and physiological時序 variables; handles file parsing and warnings cleanly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**`FeatureExtractor` Class**: Computes statistical aggregates and handles parallel dataset building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**`ICUPredictor` Class**: Manages classifier models, cross-validation, threshold optimization, and serialized joblib exports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**Decorators &amp; Logging**: A custom `@timer` decorator profiles execution runtimes; the python `logging` library handles diagnostic outputs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Core Experimental Ingestion &amp; Orchestration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8229600" cy="1371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Replaces scattered scripts with a single automated training/testing orchestrator (train.py)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Coordinates raw data downloading, feature extraction, cross-validation, and final testing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Executes independent out-of-sample evaluations automatically on Test Set B</a:t>
            </a:r>
          </a:p>
        </p:txBody>
      </p:sp>
      <p:pic>
        <p:nvPicPr>
          <p:cNvPr id="8" name="Picture 7" descr="code_experiment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3464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System Profiling via Custom Decorators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8229600" cy="1371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Implements a reusable, non-intrusive @timer decorator closure to wrap pipeline functions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Uses time.perf_counter() to automatically track execution time of core methods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Standardizes logging levels (INFO, ERROR) to replace scattered print statements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Preserves original function names and docstrings using functools.wraps</a:t>
            </a:r>
          </a:p>
        </p:txBody>
      </p:sp>
      <p:pic>
        <p:nvPicPr>
          <p:cNvPr id="8" name="Picture 7" descr="code_decorator_ti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3464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Strong Encapsulation: PatientRecord Class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8229600" cy="1371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Bundles irregular, sparsely sampled physiological measurements and descriptors into a class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Constructor validates demographic indicators and handles missing values safely on load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Defines a custom string representation (__repr__) for clean terminal debugging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Decouples raw reading and format parsing from subsequent feature engineering steps</a:t>
            </a:r>
          </a:p>
        </p:txBody>
      </p:sp>
      <p:pic>
        <p:nvPicPr>
          <p:cNvPr id="8" name="Picture 7" descr="code_oop_patient_reco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3464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Multiprocessing Performance Benchmark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7948752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Parsing thousands of independent patient records sequentially creates significant CPU and I/O bottlenecks in Python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Multiprocessing is implemented using `concurrent.futures.ProcessPoolExecutor` to run calculations in parallel on multiple cores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**Runtime Benchmarks (8,000 patient records)**: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Sequential Feature Extraction (1 Worker): **168.83 seconds**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Parallel Feature Extraction (4 Workers): **21.16 seconds**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Performance Gain: **7.98x Speedup** (near-linear multi-core efficiency)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Features an `argparse` CLI in `train.py` with a `--workers` argument for thread scaling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Concurrency: Parallel Feature Extraction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10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8229600" cy="1371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Parallelizes feature aggregation across independent records using a ProcessPoolExecutor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Implements a top-level parsing helper function to satisfy Windows pickling limits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Achieved a 7.98x speedup (processing 8,000 files in 21.16s vs 168.83s sequentially)</a:t>
            </a:r>
          </a:p>
        </p:txBody>
      </p:sp>
      <p:pic>
        <p:nvPicPr>
          <p:cNvPr id="8" name="Picture 7" descr="code_concurrency_parall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3464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AD1717-D0CF-4370-BECF-6A6B709A4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03B1D2F-3D46-5E6A-1BDA-24ACB3C9CC6A}"/>
              </a:ext>
            </a:extLst>
          </p:cNvPr>
          <p:cNvSpPr txBox="1">
            <a:spLocks/>
          </p:cNvSpPr>
          <p:nvPr/>
        </p:nvSpPr>
        <p:spPr>
          <a:xfrm>
            <a:off x="1007604" y="2348880"/>
            <a:ext cx="7128792" cy="140415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b="1" sz="36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3. Dataset &amp; Feature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PhysioNet Challenge 2012 Cohort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7948752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**Study Cohort**: 8,000 adult ICU records split equally into Set A (development) and Set B (independent test)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**Baseline Descriptors**: Age, Gender, Height, Weight, and ICU unit type (CCU, CSRU, MICU, SICU) collected at admission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**Physiological Time-Series**: 37 variables monitored over the first 48 hours of ICU stay (e.g., HR, Temp, GCS, Urine, BUN, Creatinine, pH)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**Primary Outcome**: In-hospital death (Set A: 13.85% mortality rate; Set B: 14.20% mortality rate)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Longitudinal Feature Engineering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7948752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Irregular sequences are converted to fixed-size representations by extracting 5 statistical aggregates per time-series parameter: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**Mean**: Captures the overall physiological baseline level over 48 hours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**Minimum (Min)**: Highlights critical dips (e.g., severe hypotension or hypothermia)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**Maximum (Max)**: Highlights critical spikes (e.g., high fever or severe hypertension)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**Last Value**: Represents the patient's state at the end of the 48-hour window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**Count**: Captures observation frequency, acting as a clinical proxy for patient instability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Combined with baseline descriptors, this yields a structured matrix of **190 features** per patient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AD1717-D0CF-4370-BECF-6A6B709A4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03B1D2F-3D46-5E6A-1BDA-24ACB3C9CC6A}"/>
              </a:ext>
            </a:extLst>
          </p:cNvPr>
          <p:cNvSpPr txBox="1">
            <a:spLocks/>
          </p:cNvSpPr>
          <p:nvPr/>
        </p:nvSpPr>
        <p:spPr>
          <a:xfrm>
            <a:off x="1007604" y="2348880"/>
            <a:ext cx="7128792" cy="140415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b="1" sz="36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4. Model Development &amp; Evaluation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Model Comparison (5-Fold Stratified CV)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15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3886200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**Logistic Regression (Linear Baseline)**: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Built with median imputation and standardization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Class weights balanced to handle outcome skewness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Mean AUROC: 0.8282 (±0.0270)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Mean PhysioNet Score: 0.3413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**Random Forest (Ensemble Baseline)**: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Built with median imputation and 200 decision trees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High class-imbalance sensitivity leads to poor default recall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Mean AUROC: 0.8358 (±0.0157)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Mean PhysioNet Score: 0.0487 (unoptimized threshold)</a:t>
            </a:r>
          </a:p>
        </p:txBody>
      </p:sp>
      <p:sp>
        <p:nvSpPr>
          <p:cNvPr id="7" name="right_body"/>
          <p:cNvSpPr txBox="1"/>
          <p:nvPr/>
        </p:nvSpPr>
        <p:spPr>
          <a:xfrm>
            <a:off x="4800600" y="1261872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**XGBoost (Selected Classifier)**: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Natively handles NaNs during tree splitting without manual imputation bias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Balanced minority class scale weights (`scale_pos_weight`)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Optimized decision threshold via validation fold grid search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Mean AUROC: **0.8475 (±0.0137)**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Mean PhysioNet Score: **0.4666**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Optimal decision threshold: **0.6600**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Independent Test Set B Evaluation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16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8229600" cy="1371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Evaluated on the independent validation cohort Set B (4,000 patient records) to assess generalizability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Test Accuracy: **87.30%** | Test AUROC: **0.8612** (indicating robust discrimination)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PhysioNet Challenge Score: **0.4137** (Sensitivity: 41.37%, Precision: 57.32%)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Confusion Matrix: TN = 3,257, FP = 175, FN = 333, TP = 235</a:t>
            </a:r>
          </a:p>
        </p:txBody>
      </p:sp>
      <p:pic>
        <p:nvPicPr>
          <p:cNvPr id="8" name="Picture 7" descr="ro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3464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Key Physiological Predictors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17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8229600" cy="1371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**Glasgow Coma Score (GCS)**: Minimum (`GCS_min`) and last (`GCS_last`) values are the most critical predictors, reflecting neurological function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**Age**: Older patients have lower physiological reserve, correlating with high risk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**Blood Urea Nitrogen (BUN)**: Mean levels (`BUN_mean`) reflect renal function and fluid balance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**Urine Output**: Mean urine output (`Urine_mean`) is a crucial marker for tissue perfusion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**White Blood Cell (WBC)**: High counts (`WBC_mean`) indicate systemic inflammation or sepsis</a:t>
            </a:r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3464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AD1717-D0CF-4370-BECF-6A6B709A4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18</a:t>
            </a:fld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03B1D2F-3D46-5E6A-1BDA-24ACB3C9CC6A}"/>
              </a:ext>
            </a:extLst>
          </p:cNvPr>
          <p:cNvSpPr txBox="1">
            <a:spLocks/>
          </p:cNvSpPr>
          <p:nvPr/>
        </p:nvSpPr>
        <p:spPr>
          <a:xfrm>
            <a:off x="1007604" y="2348880"/>
            <a:ext cx="7128792" cy="140415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b="1" sz="36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5. Interactive Clinical Dashboard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Streamlit Clinical Dashboard Platform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19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8229600" cy="1371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**Sidebar Controls &amp; Citations**: Patient selectors and profile banners moved to the sidebar along with clear data source attributions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**Longitudinal Explorer**: High-contrast vitals cards with auto-height layout, Plotly Gauge risk scores with suffix and font constraint, and scrollable alert panels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**Risk Simulator**: Grouped 5x2 physiological sliders with side-by-side gauge predictions and clinical recommendations, updating in real-time on a single page</a:t>
            </a:r>
          </a:p>
        </p:txBody>
      </p:sp>
      <p:pic>
        <p:nvPicPr>
          <p:cNvPr id="8" name="Picture 7" descr="dashboard_m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3464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Production Safeguards: Dynamic Feature Alignment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20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8229600" cy="1371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XGBoost models restrict the ordering and dimensions of features during live predictions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The simulator checks the trained model's feature_names_in_ dynamically at runtime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Aligns and formats input vectors to ensure robust predictions without column mismatch errors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Safeguards live clinical deployment against feature shifts or missing values</a:t>
            </a:r>
          </a:p>
        </p:txBody>
      </p:sp>
      <p:pic>
        <p:nvPicPr>
          <p:cNvPr id="8" name="Picture 7" descr="code_model_align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3464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AD1717-D0CF-4370-BECF-6A6B709A4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21</a:t>
            </a:fld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03B1D2F-3D46-5E6A-1BDA-24ACB3C9CC6A}"/>
              </a:ext>
            </a:extLst>
          </p:cNvPr>
          <p:cNvSpPr txBox="1">
            <a:spLocks/>
          </p:cNvSpPr>
          <p:nvPr/>
        </p:nvSpPr>
        <p:spPr>
          <a:xfrm>
            <a:off x="1007604" y="2348880"/>
            <a:ext cx="7128792" cy="140415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b="1" sz="36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6. Conclusion &amp; Future Work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Key Takeaways &amp; Next Steps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22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7948752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**Conclusion**: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Developed an end-to-end Python pipeline from raw data ingestion to interactive web UI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XGBoost model outperformed linear and traditional ensemble approaches, achieving AUROC of 0.8612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The clinical risk simulator bridges the gap between predictive ML models and clinical utility</a:t>
            </a:r>
          </a:p>
          <a:p>
            <a:pPr marL="514350" indent="-457200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**Future Work**: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Explore deep learning recurrent architectures (e.g., LSTMs, GRUs, Transformers) to process raw time-series directly</a:t>
            </a:r>
          </a:p>
          <a:p>
            <a:pPr lvl="1" marL="1023938" indent="-623888" algn="l">
              <a:defRPr>
                <a:latin typeface="Cambria"/>
                <a:ea typeface="微軟正黑體"/>
                <a:cs typeface="Cambria"/>
              </a:defRPr>
            </a:pPr>
            <a:r>
              <a:rPr sz="1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Validate model generalizability using external databases (e.g., MIMIC-IV) and multi-center cohorts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高階主管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EBEE7890-3EF3-4BA0-A20B-E2908970E2E4}" vid="{1898CB38-FADE-47F9-94EA-15BAEDA81CD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29087</TotalTime>
  <Words>4269</Words>
  <Application>Microsoft Office PowerPoint</Application>
  <PresentationFormat>如螢幕大小 (4:3)</PresentationFormat>
  <Paragraphs>593</Paragraphs>
  <Slides>78</Slides>
  <Notes>61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78</vt:i4>
      </vt:variant>
    </vt:vector>
  </HeadingPairs>
  <TitlesOfParts>
    <vt:vector size="86" baseType="lpstr">
      <vt:lpstr>新細明體</vt:lpstr>
      <vt:lpstr>Arial</vt:lpstr>
      <vt:lpstr>Calibri</vt:lpstr>
      <vt:lpstr>Cambria</vt:lpstr>
      <vt:lpstr>Courier New</vt:lpstr>
      <vt:lpstr>Palatino Linotype</vt:lpstr>
      <vt:lpstr>Wingdings</vt:lpstr>
      <vt:lpstr>高階主管</vt:lpstr>
      <vt:lpstr>EDC System Training</vt:lpstr>
      <vt:lpstr>PowerPoint 簡報</vt:lpstr>
      <vt:lpstr>PowerPoint 簡報</vt:lpstr>
      <vt:lpstr>EDC System Access Application</vt:lpstr>
      <vt:lpstr>Initial Log-in</vt:lpstr>
      <vt:lpstr>Setup Password</vt:lpstr>
      <vt:lpstr>Forgot Password</vt:lpstr>
      <vt:lpstr>Forgot Password (cont.)</vt:lpstr>
      <vt:lpstr>Privilege</vt:lpstr>
      <vt:lpstr>Log-in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Subject Registration</vt:lpstr>
      <vt:lpstr>Subject Registration (cont.)</vt:lpstr>
      <vt:lpstr>Subject Registration (cont.)</vt:lpstr>
      <vt:lpstr>eCRF status</vt:lpstr>
      <vt:lpstr>eCRF status (cont.)</vt:lpstr>
      <vt:lpstr>eCRF status icon</vt:lpstr>
      <vt:lpstr>Date &amp; Time</vt:lpstr>
      <vt:lpstr>Radio/Check Box</vt:lpstr>
      <vt:lpstr>Text box &amp; Drop-Down</vt:lpstr>
      <vt:lpstr>Search Input</vt:lpstr>
      <vt:lpstr>Search Input (Cont.)</vt:lpstr>
      <vt:lpstr>Addable Question</vt:lpstr>
      <vt:lpstr>Specify Column</vt:lpstr>
      <vt:lpstr>Add Visit</vt:lpstr>
      <vt:lpstr>Edit Data</vt:lpstr>
      <vt:lpstr>Edit Data (cont.)</vt:lpstr>
      <vt:lpstr>Audit Trail</vt:lpstr>
      <vt:lpstr>Function Buttons</vt:lpstr>
      <vt:lpstr>PowerPoint 簡報</vt:lpstr>
      <vt:lpstr>Visit Date</vt:lpstr>
      <vt:lpstr>Visit Date (Cont.)</vt:lpstr>
      <vt:lpstr>(V0) Laboratory assessment</vt:lpstr>
      <vt:lpstr>(V1) Vital Signs</vt:lpstr>
      <vt:lpstr>Pregnancy Test</vt:lpstr>
      <vt:lpstr>Pregnancy Test (Cont.)</vt:lpstr>
      <vt:lpstr>Confirmation of Eligibility</vt:lpstr>
      <vt:lpstr>Screening Failure</vt:lpstr>
      <vt:lpstr>Randomization</vt:lpstr>
      <vt:lpstr>IP Allocation</vt:lpstr>
      <vt:lpstr>IP Allocation (Cont.)</vt:lpstr>
      <vt:lpstr>Participant Replacement</vt:lpstr>
      <vt:lpstr>End of Study</vt:lpstr>
      <vt:lpstr>Note for Comment field</vt:lpstr>
      <vt:lpstr>Note for MH/AE field</vt:lpstr>
      <vt:lpstr>PowerPoint 簡報</vt:lpstr>
      <vt:lpstr>PowerPoint 簡報</vt:lpstr>
      <vt:lpstr>Query Generation (cont.)</vt:lpstr>
      <vt:lpstr>Response to Query</vt:lpstr>
      <vt:lpstr>Close Query</vt:lpstr>
      <vt:lpstr>Query Status</vt:lpstr>
      <vt:lpstr>Query Menu</vt:lpstr>
      <vt:lpstr>SDV and Lock</vt:lpstr>
      <vt:lpstr>PowerPoint 簡報</vt:lpstr>
      <vt:lpstr>PowerPoint 簡報</vt:lpstr>
      <vt:lpstr>PowerPoint 簡報</vt:lpstr>
      <vt:lpstr>Data Field Status</vt:lpstr>
      <vt:lpstr>PowerPoint 簡報</vt:lpstr>
      <vt:lpstr>Conduct eSignature</vt:lpstr>
      <vt:lpstr>Conduct eSignature (cont.)</vt:lpstr>
      <vt:lpstr>Re-execute eSignature</vt:lpstr>
      <vt:lpstr>eSign Menu</vt:lpstr>
      <vt:lpstr>eSign Menu-Batch eSignature</vt:lpstr>
      <vt:lpstr>PowerPoint 簡報</vt:lpstr>
      <vt:lpstr>Emergency Unblinding</vt:lpstr>
      <vt:lpstr>Emergency Unblinding (cont.)</vt:lpstr>
      <vt:lpstr>Unblind (cont.)</vt:lpstr>
      <vt:lpstr>Unblind (cont.)</vt:lpstr>
      <vt:lpstr>Unblind (cont.)</vt:lpstr>
      <vt:lpstr>Contact Information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EDC training</dc:title>
  <dc:creator>Shelly Liao</dc:creator>
  <cp:lastModifiedBy>Shelly Liao</cp:lastModifiedBy>
  <cp:revision>553</cp:revision>
  <cp:lastPrinted>2014-06-09T09:28:52Z</cp:lastPrinted>
  <dcterms:created xsi:type="dcterms:W3CDTF">2019-11-24T10:28:49Z</dcterms:created>
  <dcterms:modified xsi:type="dcterms:W3CDTF">2026-03-04T04:08:31Z</dcterms:modified>
</cp:coreProperties>
</file>